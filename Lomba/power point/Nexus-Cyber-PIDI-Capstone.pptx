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PIDI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FINAL SUBMISSION ·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8FAFC"/>
                </a:solidFill>
                <a:latin typeface="Calibri"/>
              </a:rPr>
              <a:t>Nexus Cyber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B301"/>
                </a:solidFill>
                <a:latin typeface="Calibri"/>
              </a:rPr>
              <a:t>PS1 · Penguatan Ketahanan dan Inovasi Keuangan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D4BF"/>
                </a:solidFill>
                <a:latin typeface="Calibri"/>
              </a:rPr>
              <a:t>Sub-PS · Manajemen Risiko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Edge Antibody Cowork (GaaS) — wasit risiko kanal web/API
Evidence over claim · Built vs Planned · Human L0/L1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Part A: 14 slide inti presentasi  ·  Part B: Additional untuk 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1/33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1/14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1 · Wajib PIDI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Solution at a Glance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11155680" cy="43891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Value proposition (1 kalimat)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Wasit terukur untuk kanal digital: ukur celah HTTP → kendalikan di tepi → uji replay → serahkan artefak risiko — bukan PDF scanner saja.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Problem Statement: PS1 · Penguatan Ketahanan dan Inovasi Keuangan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Sub-Problem: Sub-PS · Manajemen Risiko (identifikasi · ukur · pantau · kurangi risiko operasional/keamanan)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Target: pemilik risiko kanal (fintech/ITSK), integrator web keuangan, IT corporat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Offtaker/adopter: direksi IT, compliance ops, agensi yang deploy kanal untuk klien keuangan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Entry funnel UMKM (Channel Starter) — bukan fokus PS, hanya pintu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2/33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2/14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2 · Wajib PIDI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Problem &amp;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Kanal digital (portal, API, onboarding) dirilis cepat → permukaan HTTP bertambah.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Setiap rilis menambah risiko operasional: deface, abuse form, IDOR, gap origin vs tepi.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Institusi keuangan wajib bukti pengendalian — bukan hanya temuan audit statis.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•  Insiden kanal publik merusak kepercayaan konsumen &amp; stabilitas sistem (PS1).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00200"/>
            <a:ext cx="5303520" cy="45720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7185"/>
                </a:solidFill>
                <a:latin typeface="Calibri"/>
              </a:rPr>
              <a:t>Konsekuensi bila tidak diselesaikan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Firefight manual pasca-insiden (biaya ops + reputasi).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Keputusan direksi tanpa jejak residual jujur.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Regulator/pemilik risiko sulit verifikasi “sudah aman”.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Gap WAF vs origin tidak terdeteksi → hijau palsu.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3/33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3/14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3 · Wajib PIDI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Problem Validation &amp; Root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B301"/>
                </a:solidFill>
                <a:latin typeface="Calibri"/>
              </a:rPr>
              <a:t>Root cause: siklus manajemen risiko kanal terputus (identifikasi–pengendalian–pemantauan)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32004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039112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Sumber bukti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965960"/>
            <a:ext cx="7955279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4" y="2039112"/>
            <a:ext cx="7863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Temuan validasi (contoh/pilot)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24328"/>
            <a:ext cx="32004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69748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Calibri"/>
              </a:rPr>
              <a:t>Observasi alur kerja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624328"/>
            <a:ext cx="7955279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4" y="2697480"/>
            <a:ext cx="7863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Scanner → PDF; WAF → log; tidak ada loop uji replay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82696"/>
            <a:ext cx="32004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55848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Calibri"/>
              </a:rPr>
              <a:t>Wawancara stakeholder*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282696"/>
            <a:ext cx="7955279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2464" y="3355848"/>
            <a:ext cx="7863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Pemilik kanal minta bukti pengendalian berulang, bukan one-shot audit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41064"/>
            <a:ext cx="32004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014216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Calibri"/>
              </a:rPr>
              <a:t>Data operasional publik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3941064"/>
            <a:ext cx="7955279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12464" y="4014216"/>
            <a:ext cx="7863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Deface/abus kanal UMKM &amp; institusi masih sering dilaporkan (media/BSSN advisories)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99432"/>
            <a:ext cx="32004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672584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Calibri"/>
              </a:rPr>
              <a:t>Regulasi &amp; praktik industri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4599432"/>
            <a:ext cx="7955279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12464" y="4672584"/>
            <a:ext cx="7863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Manajemen risiko ITSK/fintech mensyaratkan identifikasi–pengendalian–pemantauan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*Lengkapi transkrip wawancara di Additional slide A16 — jangan klaim tanpa bukti nyata tim Anda.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4/33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4 · Wajib PIDI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Solution &amp; Core 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Core use case: satu Job Cowork menutup loop wasit pada satu host kanal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011680"/>
            <a:ext cx="1874519" cy="13716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24028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1. Scope host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011680"/>
            <a:ext cx="1874519" cy="13716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24028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2. Ukur delta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011680"/>
            <a:ext cx="1874519" cy="13716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24028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3. Draft antibodi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11680"/>
            <a:ext cx="1874519" cy="13716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24028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4. Approve L0/L1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2011680"/>
            <a:ext cx="1874519" cy="13716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24028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5. Replay uji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49840" y="2011680"/>
            <a:ext cx="1874519" cy="13716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224028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6. Artefak MD/JSON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Before: celah origin terbuka / tepi tidak terbukti · After: status CLOSED_OK atau CLOSED_GAP (jujur)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Alur A (always-on): trafik → WAF :8080 → origin/403 + Reflex + antibodi cache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Alur B (Job): orkestrasi NEX-RED jobs/ + bridge :3004 + sync PostgreSQL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Alur C (artefak): export MD/JSON untuk pemilik risiko kanal — bukan login SOC pelanggan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5/33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5/14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5 · Wajib PIDI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Value Proposition &amp; Differentiation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219456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Dimensi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572768"/>
            <a:ext cx="21031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0904" y="1645920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Scanner/PDF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572768"/>
            <a:ext cx="21031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4" y="1645920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WAF/CDN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572768"/>
            <a:ext cx="22860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67144" y="1645920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SOC manual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572768"/>
            <a:ext cx="25603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3144" y="164592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Nexus GaaS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286000"/>
            <a:ext cx="219456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" y="2359152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Bukti origin vs tepi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2286000"/>
            <a:ext cx="21031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60904" y="2359152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Tidak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2286000"/>
            <a:ext cx="21031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024" y="2359152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Sebagian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2286000"/>
            <a:ext cx="22860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67144" y="2359152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Proses berat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2286000"/>
            <a:ext cx="25603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4" y="2359152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Defense delta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2999232"/>
            <a:ext cx="219456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3072384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Uji replay jujur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40" y="2999232"/>
            <a:ext cx="21031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60904" y="3072384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Tidak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09160" y="2999232"/>
            <a:ext cx="21031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64024" y="3072384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Jarang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2999232"/>
            <a:ext cx="22860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67144" y="3072384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Ad hoc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2999232"/>
            <a:ext cx="25603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53144" y="3072384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replay_missed→GAP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712464"/>
            <a:ext cx="219456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3785616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Artefak risiko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06040" y="3712464"/>
            <a:ext cx="21031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60904" y="3785616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PDF statis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09160" y="3712464"/>
            <a:ext cx="21031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64024" y="3785616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Log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12280" y="3712464"/>
            <a:ext cx="22860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67144" y="3785616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Tiket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3712464"/>
            <a:ext cx="25603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53144" y="3785616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Job MD/JSON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425696"/>
            <a:ext cx="219456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44" y="4498848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Human oversight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06040" y="4425696"/>
            <a:ext cx="21031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60904" y="449884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N/A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09160" y="4425696"/>
            <a:ext cx="21031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64024" y="449884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N/A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12280" y="4425696"/>
            <a:ext cx="22860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67144" y="4498848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Analyst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98280" y="4425696"/>
            <a:ext cx="25603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53144" y="449884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L0/L1 gerbang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" y="5138928"/>
            <a:ext cx="219456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6344" y="5212080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Harga entry UMKM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606040" y="5138928"/>
            <a:ext cx="21031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60904" y="5212080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Mahal sekali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09160" y="5138928"/>
            <a:ext cx="21031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64024" y="5212080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Menengah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12280" y="5138928"/>
            <a:ext cx="22860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67144" y="5212080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Tidak feasible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80" y="5138928"/>
            <a:ext cx="25603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53144" y="521208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Starter terpisah*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*Channel Starter lab v0.1 — bukan Loop GaaS di Rp 20rb. Detail di Additional A7–A10.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6/33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6/14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6 · Wajib PIDI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Prototype &amp; Current Product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384048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Komponen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16459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64592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572768"/>
            <a:ext cx="57607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52744" y="164592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Bukti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048256"/>
            <a:ext cx="384048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121408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Gateway WAF + Reflex (Alur 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048256"/>
            <a:ext cx="16459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2121408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BUILT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2048256"/>
            <a:ext cx="57607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121408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deploy-local · go run gateway · :8080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523744"/>
            <a:ext cx="384048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596896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Job Cowork NEX-RED (Alur B)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523744"/>
            <a:ext cx="16459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06824" y="25968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BUILT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2523744"/>
            <a:ext cx="57607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52744" y="2596896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NEX-RED/jobs/ · bridge :3004 · nexred.py job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2999232"/>
            <a:ext cx="384048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3072384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Artefak MD/JSON (Alur 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2999232"/>
            <a:ext cx="16459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06824" y="3072384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BUILT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80" y="2999232"/>
            <a:ext cx="57607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52744" y="3072384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jobs/data/artifacts/ · export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474720"/>
            <a:ext cx="384048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547872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Operator GaaS Console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3474720"/>
            <a:ext cx="16459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06824" y="3547872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BUILT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3474720"/>
            <a:ext cx="57607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52744" y="354787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nexus-admin-dashboard :3001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950208"/>
            <a:ext cx="384048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4023360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Channel Portal v0.1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3950208"/>
            <a:ext cx="16459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06824" y="402336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BUILT (lab)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97880" y="3950208"/>
            <a:ext cx="57607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52744" y="402336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nexus-channel-portal :3003 · WA manual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4425696"/>
            <a:ext cx="384048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4498848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Channel Starter deploy massal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1960" y="4425696"/>
            <a:ext cx="16459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06824" y="4498848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PLANNED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97880" y="4425696"/>
            <a:ext cx="57607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52744" y="4498848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channel-starter/ lab v0.1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4901184"/>
            <a:ext cx="384048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" y="4974336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Billing Midtrans otomatis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51960" y="4901184"/>
            <a:ext cx="16459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06824" y="497433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PLANNED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97880" y="4901184"/>
            <a:ext cx="57607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52744" y="4974336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ditunda — fail-closed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" y="5376672"/>
            <a:ext cx="384048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6344" y="5449824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Edge on-prem B2G packaging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51960" y="5376672"/>
            <a:ext cx="16459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06824" y="5449824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PLANNED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897880" y="5376672"/>
            <a:ext cx="57607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52744" y="5449824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pitching · belum DC produksi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5852160"/>
            <a:ext cx="384048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6344" y="5925312"/>
            <a:ext cx="3749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eBPF / SOC 24/7 / pentest exploit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51960" y="5852160"/>
            <a:ext cx="16459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06824" y="5925312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NOT CLAIMED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97880" y="5852160"/>
            <a:ext cx="576072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52744" y="592531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LIMITATIONS.md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Level prototype: Functional Prototype (Level 2) — core use case dapat di-demo end-to-end di lab.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7/33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7/14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7 · Wajib PIDI · 3-Layer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How the Technology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11155680" cy="14173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LAYER 1 · User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Pemilik risiko / operator: portal order · site di belakang WAF · Operator Console (internal) · artefak Job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11155680" cy="14173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LAYER 2 · System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Input HTTP jinak → defense delta (WAF vs origin) → draft antibodi → L0/L1 approve → vaccine-probe + replay → status Job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09160"/>
            <a:ext cx="11155680" cy="14173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LAYER 3 · Technical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12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Caddy/tunnel → Gateway :8080 → origin · Control :8081 · PG/Redis · NEX-RED :3004 · nex-ai-protect/reflex (opsional)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Diagram detail &amp; data flow → Additional A2, A5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8/33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8/14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8 · Wajib PIDI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Technical Testing &amp;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2286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Kategori uji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572768"/>
            <a:ext cx="27432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2344" y="164592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Metode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1572768"/>
            <a:ext cx="32004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95544" y="164592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Hasil lab (contoh)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572768"/>
            <a:ext cx="301752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95944" y="1645920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Catatan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139696"/>
            <a:ext cx="2286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212848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Defense delta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2139696"/>
            <a:ext cx="27432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2344" y="221284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Request identik WAF vs origin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2139696"/>
            <a:ext cx="32004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95544" y="2212848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Label waf_blocked / origin_open / replay_*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2139696"/>
            <a:ext cx="301752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95944" y="2212848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NEX-RED Sprint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706624"/>
            <a:ext cx="2286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2779776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Antibody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2706624"/>
            <a:ext cx="27432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52344" y="2779776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Replay 403 di tepi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2706624"/>
            <a:ext cx="32004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95544" y="277977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replay_held vs replay_missed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2706624"/>
            <a:ext cx="301752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95944" y="2779776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Sprint 2 · CLOSED_GAP jujur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273552"/>
            <a:ext cx="2286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346704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Job lifecycle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97480" y="3273552"/>
            <a:ext cx="27432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52344" y="334670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Orkestrasi Job Cowork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40680" y="3273552"/>
            <a:ext cx="32004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95544" y="3346704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OPEN→…→CLOSED_OK/GAP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41080" y="3273552"/>
            <a:ext cx="301752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95944" y="3346704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test_job_cowork.py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840480"/>
            <a:ext cx="2286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" y="391363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Gateway proxy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97480" y="3840480"/>
            <a:ext cx="27432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52344" y="3913632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Unit + integration tests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40680" y="3840480"/>
            <a:ext cx="32004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95544" y="3913632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go test ./internal/proxy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1080" y="3840480"/>
            <a:ext cx="301752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95944" y="3913632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CI pre-push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407408"/>
            <a:ext cx="2286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44" y="4480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Security surface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97480" y="4407408"/>
            <a:ext cx="27432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52344" y="448056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Telemetry di :8080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40680" y="4407408"/>
            <a:ext cx="32004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95544" y="448056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GET /api/telemetry → 404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4407408"/>
            <a:ext cx="301752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95944" y="4480560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CAPABILITIES.md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" y="4974336"/>
            <a:ext cx="2286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6344" y="5047488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Hotspot harness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97480" y="4974336"/>
            <a:ext cx="27432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52344" y="504748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Port privat tertutup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40680" y="4974336"/>
            <a:ext cx="32004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95544" y="5047488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:8081/:3001 closed from hotspot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41080" y="4974336"/>
            <a:ext cx="301752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95944" y="5047488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NEX_RED_HOTSPOT_HARNESS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Log lengkap &amp; error analysis → Additional A6. Bukan load test production DC.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9/33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9/14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9 · Wajib PIDI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Impact &amp; Evidence of Effectiveness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292608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72768"/>
            <a:ext cx="256032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164592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Baseline (tanpa wasit)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572768"/>
            <a:ext cx="292608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52744" y="164592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Hasil pilot/lab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572768"/>
            <a:ext cx="283464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78824" y="164592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Target implementasi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231136"/>
            <a:ext cx="292608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304288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Loop risiko kanal tertutup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231136"/>
            <a:ext cx="256032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2424" y="230428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Manual / tidak terukur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2231136"/>
            <a:ext cx="292608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2744" y="2304288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1 Job = 1 siklus status jujur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2231136"/>
            <a:ext cx="283464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78824" y="230428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Loop berkala per rilis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889504"/>
            <a:ext cx="292608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2962656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Deteksi gap origin vs tepi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2889504"/>
            <a:ext cx="256032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92424" y="2962656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Tidak terlihat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2889504"/>
            <a:ext cx="292608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2962656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Defense delta terlabel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2889504"/>
            <a:ext cx="283464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78824" y="2962656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0 origin_open tanpa residual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547872"/>
            <a:ext cx="292608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621024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Bukti replay antibodi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3547872"/>
            <a:ext cx="256032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92424" y="3621024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N/A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3547872"/>
            <a:ext cx="292608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52744" y="3621024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replay_held / replay_missed tercatat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3547872"/>
            <a:ext cx="283464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78824" y="3621024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replay_missed → GAP, bukan OK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4206240"/>
            <a:ext cx="292608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" y="4279392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Waktu artefak ke pemilik risiko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7560" y="4206240"/>
            <a:ext cx="256032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92424" y="427939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Minggu (audit)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97880" y="4206240"/>
            <a:ext cx="292608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52744" y="4279392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48–72 jam Job + export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23960" y="4206240"/>
            <a:ext cx="283464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78824" y="427939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Same-day setelah approve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864608"/>
            <a:ext cx="292608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44" y="493776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False sense of security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37560" y="4864608"/>
            <a:ext cx="256032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92424" y="493776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Tinggi (PDF hijau)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97880" y="4864608"/>
            <a:ext cx="292608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52744" y="493776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Diturunkan via CLOSED_GAP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864608"/>
            <a:ext cx="283464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78824" y="493776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Transparansi residual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Metodologi: lab portfolio.nexus-lab.test di belakang WAF; metrik dari Job Cowork + NEX-RED test suite.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10/33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10/14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10 · Wajib PIDI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Market / User / Offtaker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ICP B2B: fintech, ITSK, integrator web keuangan (COWORK_B2B.md).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Adoption ecosystem: pemilik risiko kanal + operator Nexus (managed).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Validasi v1: pembayaran/manual WA + order portal (62895603358692).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Pilot distribusi: PC operator 24/7 + tunnel — bukan SLA DC.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LOI formal: [ISI jika sudah ada] — jujur jika belum.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User testing: [ISI feedback nyata tim Anda] — lihat template A16.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5486400" cy="457200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Willingness to pay (ilustrasi pilot)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Job Cowork: Rp 200.000 / host (one-shot)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Loop GaaS: Rp 300.000 / bulan / host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B2G Edge: Rp 18 jt/tahun + Loop 3,5 jt/bln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TAM/SOM tanpa wawancara = tidak cukup (aturan PIDI)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11/33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11/14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11 · Wajib PIDI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Adoption &amp; Sustainability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5303520" cy="420624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Go-to-market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Portal segmen → WA order → deploy pilot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Upsell: Starter → Tepi → Job → Loop → On-prem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Demo lewat PROTECTED_HOST (bukan origin langsung)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Artefak = deliverable ke pemilik risiko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00200"/>
            <a:ext cx="5669280" cy="420624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B301"/>
                </a:solidFill>
                <a:latin typeface="Calibri"/>
              </a:rPr>
              <a:t>Unit economics (ringkas)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240280"/>
            <a:ext cx="201168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44184" y="231343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Paket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240280"/>
            <a:ext cx="18288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5864" y="231343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Jual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2240280"/>
            <a:ext cx="173736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84664" y="231343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Margin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679192"/>
            <a:ext cx="201168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4" y="275234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Job Cowork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679192"/>
            <a:ext cx="18288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5864" y="2752344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Rp 200rb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2679192"/>
            <a:ext cx="173736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4664" y="275234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~63%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118104"/>
            <a:ext cx="201168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44184" y="319125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Loop GaaS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118104"/>
            <a:ext cx="18288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55864" y="319125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Rp 300rb/bln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3118104"/>
            <a:ext cx="173736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4664" y="319125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~68%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3557016"/>
            <a:ext cx="201168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44184" y="363016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B2G Edge+Loop/thn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3557016"/>
            <a:ext cx="18288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55864" y="363016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~Rp 60jt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3557016"/>
            <a:ext cx="173736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84664" y="363016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~75%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8404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Detail COGS per segmen → Additional A7–A10
Asumsi pilot PC+tunnel (infra ≈ 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12/33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12/14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12 · Wajib PIDI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Team &amp; Execution Readiness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25603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Peran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572768"/>
            <a:ext cx="22860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1645920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572768"/>
            <a:ext cx="32004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2664" y="1645920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Kontribusi nyata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572768"/>
            <a:ext cx="32004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4" y="1645920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Q&amp;A ownership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286000"/>
            <a:ext cx="25603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359152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[Nama] Lead Presenter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2286000"/>
            <a:ext cx="22860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26664" y="2359152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Product / GTM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2286000"/>
            <a:ext cx="32004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2664" y="2359152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Problem, impact, closing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2286000"/>
            <a:ext cx="32004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13064" y="2359152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Slide 1–2, 9–10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999232"/>
            <a:ext cx="25603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3072384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[Nama] Technical Lead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2999232"/>
            <a:ext cx="22860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26664" y="3072384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Go, NEX-RED, gateway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2999232"/>
            <a:ext cx="32004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12664" y="3072384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Job Cowork, demo live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2999232"/>
            <a:ext cx="32004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3064" y="3072384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Slide 6–8, A2–A6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712464"/>
            <a:ext cx="25603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785616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[Nama] Business Rep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3712464"/>
            <a:ext cx="22860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26664" y="3785616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Market, BMC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3712464"/>
            <a:ext cx="32004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12664" y="3785616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Validasi, pricing, adopsi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58200" y="3712464"/>
            <a:ext cx="32004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13064" y="3785616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Slide 10–11, A7–A11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4425696"/>
            <a:ext cx="256032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" y="449884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[Nama] Domain Support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71800" y="4425696"/>
            <a:ext cx="22860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26664" y="4498848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Security / compliance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57800" y="4425696"/>
            <a:ext cx="32004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12664" y="449884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L0/L1, limitasi jujur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58200" y="4425696"/>
            <a:ext cx="3200400" cy="71323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13064" y="449884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Slide 14, A13, A17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806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B301"/>
                </a:solidFill>
                <a:latin typeface="Calibri"/>
              </a:rPr>
              <a:t>ISI nama &amp; kontribusi nyata tim Anda. Aturan PIDI: dilarang hanya foto + universitas.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13/33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13/14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13 · Wajib PIDI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Roadmap to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18288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Milestone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572768"/>
            <a:ext cx="36576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5144" y="1645920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572768"/>
            <a:ext cx="32004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52744" y="164592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Resource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572768"/>
            <a:ext cx="256032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3144" y="164592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Timeline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231136"/>
            <a:ext cx="18288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30428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M0 (now)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2231136"/>
            <a:ext cx="36576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95144" y="2304288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Demo Job + portal + lab WAF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2231136"/>
            <a:ext cx="32004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2744" y="2304288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PC operator + repo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231136"/>
            <a:ext cx="256032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4" y="230428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Hackathon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889504"/>
            <a:ext cx="18288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2962656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M1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40280" y="2889504"/>
            <a:ext cx="36576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95144" y="296265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3–5 klien Loop hosted pilot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2889504"/>
            <a:ext cx="32004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2962656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Operator + WA sales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2889504"/>
            <a:ext cx="256032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53144" y="2962656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+3 bulan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547872"/>
            <a:ext cx="18288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621024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M2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40280" y="3547872"/>
            <a:ext cx="36576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95144" y="3621024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Packaging Edge berlisensi v1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3547872"/>
            <a:ext cx="32004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52744" y="3621024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Dev + legal template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3547872"/>
            <a:ext cx="256032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53144" y="3621024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+6 bulan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4206240"/>
            <a:ext cx="18288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" y="4279392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M3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0280" y="4206240"/>
            <a:ext cx="36576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95144" y="427939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1 pilot on-prem staging B2G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97880" y="4206240"/>
            <a:ext cx="320040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52744" y="4279392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Install remote + Loop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4206240"/>
            <a:ext cx="2560320" cy="65836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53144" y="427939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+9–12 bulan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Biaya ilustrasi R&amp;D+ops: Rp 8–15 jt/bln (founder blended) — sesuaikan aktual.
Payback: 1× B2G tahun-1 ATAU ~40–80 Loop stabil (PRICING_UNIT_ECONOMICS.md).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14/33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CORE 14/14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Slide 14 · Wajib PIDI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Key Risks &amp; Next Priorities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536192"/>
            <a:ext cx="164592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609344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Kategori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536192"/>
            <a:ext cx="411480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1609344"/>
            <a:ext cx="4023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Risiko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536192"/>
            <a:ext cx="566928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5624" y="1609344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Mitigasi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157984"/>
            <a:ext cx="164592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2231136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Teknis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2157984"/>
            <a:ext cx="411480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20824" y="2231136"/>
            <a:ext cx="4023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replay_missed / origin_open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157984"/>
            <a:ext cx="566928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4" y="2231136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CLOSED_GAP jujur · residual tertulis · 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779776"/>
            <a:ext cx="164592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2852928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Adopsi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2779776"/>
            <a:ext cx="411480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0824" y="2852928"/>
            <a:ext cx="4023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Ekspektasi SOC 24/7 murah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2779776"/>
            <a:ext cx="566928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35624" y="2852928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Copy portal + LIMITATIONS · L0/L1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3401568"/>
            <a:ext cx="164592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3474720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Regulasi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65960" y="3401568"/>
            <a:ext cx="411480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0824" y="3474720"/>
            <a:ext cx="4023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Klaim sertifikasi palsu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3401568"/>
            <a:ext cx="566928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5624" y="3474720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BSSN/POJK = framing · bukan approve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023360"/>
            <a:ext cx="164592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4096512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Operasional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65960" y="4023360"/>
            <a:ext cx="411480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4096512"/>
            <a:ext cx="4023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PC single point of failure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4023360"/>
            <a:ext cx="566928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4096512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Roadmap VPS · backup demo video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" y="4645152"/>
            <a:ext cx="164592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4718304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65960" y="4645152"/>
            <a:ext cx="411480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4718304"/>
            <a:ext cx="4023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Validasi pasar tipis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80760" y="4645152"/>
            <a:ext cx="566928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35624" y="4718304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Wawancara + LOI target · template A16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" y="5266944"/>
            <a:ext cx="164592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" y="5340096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B2G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65960" y="5266944"/>
            <a:ext cx="411480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20824" y="5340096"/>
            <a:ext cx="4023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Packaging belum produksi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80760" y="5266944"/>
            <a:ext cx="5669280" cy="62179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35624" y="5340096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Pitching jujur · milestone M2–M3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Risiko per segmen detail → Additional A10 (finance) · mitigasi UMKM/B2G terpisah jika juri tanya.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A · Slide 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15/33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B301"/>
                </a:solidFill>
                <a:latin typeface="Calibri"/>
              </a:rPr>
              <a:t>ADDITIONAL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Calibri"/>
              </a:rPr>
              <a:t>Tidak dipresentasikan penuh dalam 10 menit.
Digunakan saat Q&amp;A — jawab dengan data &amp; rujukan slide, bukan abstrak.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Teknis: wasit, Job, testing, keamanan, AI 8 poin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Bisnis: unit economics per segmen, BMC, ROI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•  Validasi: template wawancara, checklist eligibility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Pembuka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16/33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A1 · Data Teknis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Defense Delta &amp; Label Wasit Jujur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2286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Label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572768"/>
            <a:ext cx="4572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2344" y="1645920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Arti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38912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4344" y="1645920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Implikasi Job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2286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212848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waf_blocked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2139696"/>
            <a:ext cx="4572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2212848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Tepi menahan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139696"/>
            <a:ext cx="438912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2212848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Pengendalian di gateway 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706624"/>
            <a:ext cx="2286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779776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origin_open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2706624"/>
            <a:ext cx="4572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52344" y="2779776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Origin terbuka tanpa WAF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2706624"/>
            <a:ext cx="438912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4344" y="2779776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Residual → CLOSED_GAP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273552"/>
            <a:ext cx="2286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3346704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both_held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3273552"/>
            <a:ext cx="4572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52344" y="3346704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Keduanya menahan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3273552"/>
            <a:ext cx="438912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24344" y="3346704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Positif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840480"/>
            <a:ext cx="2286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91363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replay_held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97480" y="3840480"/>
            <a:ext cx="4572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52344" y="3913632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Replay tetap 403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9480" y="3840480"/>
            <a:ext cx="438912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24344" y="3913632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Antibody loop OK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4407408"/>
            <a:ext cx="2286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4480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replay_missed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97480" y="4407408"/>
            <a:ext cx="457200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52344" y="4480560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Replay lolos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9480" y="4407408"/>
            <a:ext cx="4389120" cy="56692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24344" y="4480560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WAJIB GAP — bukan hijau palsu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Sumber: NEX-RED defense delta · PRODUCT_MODEL §4 · aturan CLOSED_OK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17/33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A2 · Data Teknis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Job Cowork — Status &amp;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256032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572768"/>
            <a:ext cx="4114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164592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Arti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572768"/>
            <a:ext cx="45720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41464" y="16459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Aksi manusia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075688"/>
            <a:ext cx="256032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1488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OPEN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075688"/>
            <a:ext cx="4114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6664" y="21488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Job dibuka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075688"/>
            <a:ext cx="45720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21488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Set scope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578608"/>
            <a:ext cx="256032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651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MEASURING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2578608"/>
            <a:ext cx="4114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26664" y="26517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Wasit jalan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2578608"/>
            <a:ext cx="45720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1464" y="26517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081528"/>
            <a:ext cx="256032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3154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PENDING_APPROVAL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081528"/>
            <a:ext cx="4114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26664" y="315468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Draft antibodi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3081528"/>
            <a:ext cx="45720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41464" y="315468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Approve L0/L1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584448"/>
            <a:ext cx="256032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657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VERIFYING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3584448"/>
            <a:ext cx="4114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26664" y="36576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Replay/vaccine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3584448"/>
            <a:ext cx="45720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41464" y="36576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4087368"/>
            <a:ext cx="256032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4160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CLOSED_OK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71800" y="4087368"/>
            <a:ext cx="4114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26664" y="416052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Loop OK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4087368"/>
            <a:ext cx="45720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41464" y="41605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Export artefak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4590288"/>
            <a:ext cx="256032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4663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CLOSED_GAP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71800" y="4590288"/>
            <a:ext cx="4114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26664" y="46634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Masih gap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6600" y="4590288"/>
            <a:ext cx="45720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41464" y="46634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Residual jujur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5093208"/>
            <a:ext cx="256032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" y="5166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PARTIAL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71800" y="5093208"/>
            <a:ext cx="4114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26664" y="51663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Agen gagal sebagian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86600" y="5093208"/>
            <a:ext cx="45720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41464" y="51663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Tutup jujur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18/33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A3 · AI Transparency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AI / GaaS — 8 Poin Teknis (PIDI wajib jika klaim 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1. Input: payload HTTP jinak, header, path, defense delta features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2. Sumber: log gateway lab, request wasit NEX-RED, origin loopback/RFC1918 saja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3. Preprocessing: normalisasi label wasit, immune memory per host (JSON)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4. Output: klasifikasi risiko (regex reflex) + reasoning opsional (nex-ai-protect JSON)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5. Trigger aksi: draft antibodi → gerbang L0 (artefak) / L1 (pasang tepi)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6. Metrik: recall kelas wasit (NEX-RED test suite); bukan klaim accuracy produksi massal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7. Limitasi: bukan pentest exploit; reflex=regex default; model opsional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8. Human oversight: L0/L1 wajib — unban/DNS/disk TIDAK otonom (PRODUCT_MODEL §6)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Pembedaan: arsitektur Job + wasit milik Nexus; model GGUF milik pemilik — bukan API OpenAI generic tanpa logika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19/33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A4 ·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Keamanan Lab &amp; Posture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27432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Kontrol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572768"/>
            <a:ext cx="41148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9544" y="1645920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Implementasi 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38912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4344" y="1645920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Bukti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03120"/>
            <a:ext cx="27432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17627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SOC tidak publik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103120"/>
            <a:ext cx="41148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9544" y="2176272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:3001/:8081 localhost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103120"/>
            <a:ext cx="438912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2176272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DISTRIBUTION_PILOT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633472"/>
            <a:ext cx="27432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70662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:8080 telemetry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2633472"/>
            <a:ext cx="41148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9544" y="2706624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404 / auth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2633472"/>
            <a:ext cx="438912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4344" y="2706624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test_live_http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163824"/>
            <a:ext cx="27432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323697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Origin direct NEX-RED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3163824"/>
            <a:ext cx="41148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9544" y="3236976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HTTP privat saja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3163824"/>
            <a:ext cx="438912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24344" y="3236976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netaddr guard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694176"/>
            <a:ext cx="27432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7673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Cookie session WAF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3694176"/>
            <a:ext cx="41148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9544" y="3767328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POST tanpa cookie → 401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9480" y="3694176"/>
            <a:ext cx="438912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24344" y="3767328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proxy_core.go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4224528"/>
            <a:ext cx="27432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429768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Tunnel juri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54680" y="4224528"/>
            <a:ext cx="41148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9544" y="4297680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Hanya site WAF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9480" y="4224528"/>
            <a:ext cx="438912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24344" y="4297680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JURY_PUBLIC_ACCESS.md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20/33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A5 · Testing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Bukti Pengujian Otomatis (Repo)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NEX-RED: test_job_cowork, test_live_http (defense delta, replay, antibody)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Gateway: go test ./internal/proxy, ./tests (pre-push hook)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Aturan: replay_missed → CLOSED_GAP (test_job_cowork.TestJobClosure)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Juice Shop lab: recall kelas AUTH/INJ — equal_to_shannon_strix = false (jujur)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Cara reproduksi: deploy-local START-FOR-JURY.bat · nexred.py job run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Log lengkap: jalankan pytest / go test di mesin presenter — screenshot output untuk juri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21/33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A6 ·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Unit Economics — Ringkasan 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27432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Paket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572768"/>
            <a:ext cx="22860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9544" y="164592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Jual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1572768"/>
            <a:ext cx="22860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95544" y="164592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COGS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1572768"/>
            <a:ext cx="13716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81544" y="164592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Margin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048256"/>
            <a:ext cx="27432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12140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Job Cowork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2048256"/>
            <a:ext cx="22860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9544" y="212140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200rb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2048256"/>
            <a:ext cx="22860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95544" y="212140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75rb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80" y="2048256"/>
            <a:ext cx="13716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81544" y="212140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63%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523744"/>
            <a:ext cx="27432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259689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Loop GaaS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54680" y="2523744"/>
            <a:ext cx="22860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9544" y="259689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300rb/bln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2523744"/>
            <a:ext cx="22860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95544" y="259689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95rb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80" y="2523744"/>
            <a:ext cx="13716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81544" y="2596896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68%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2999232"/>
            <a:ext cx="27432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07238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UMKM Website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2999232"/>
            <a:ext cx="22860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9544" y="307238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20rb/bln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40680" y="2999232"/>
            <a:ext cx="22860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95544" y="307238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8,5rb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80" y="2999232"/>
            <a:ext cx="13716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81544" y="307238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58%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474720"/>
            <a:ext cx="27432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" y="354787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B2G Edge/thn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4680" y="3474720"/>
            <a:ext cx="22860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9544" y="354787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18jt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40680" y="3474720"/>
            <a:ext cx="22860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95544" y="354787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2,4jt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26680" y="3474720"/>
            <a:ext cx="13716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81544" y="3547872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87%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3950208"/>
            <a:ext cx="27432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44" y="402336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B2G Loop/bln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54680" y="3950208"/>
            <a:ext cx="22860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9544" y="402336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3,5jt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40680" y="3950208"/>
            <a:ext cx="22860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95544" y="402336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1,05jt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26680" y="3950208"/>
            <a:ext cx="1371600" cy="475488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81544" y="402336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70%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PRICING_UNIT_ECONOMICS.md · asumsi PC+tunnel · bukan laporan audit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22/33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A7 · Finance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Finance · UMKM &amp; Sekolah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4114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Segmen · paket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72768"/>
            <a:ext cx="22860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6459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Jual/bln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572768"/>
            <a:ext cx="1828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67144" y="16459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Margin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075688"/>
            <a:ext cx="4114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1488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UMKM · Website Aman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075688"/>
            <a:ext cx="22860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20rb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2075688"/>
            <a:ext cx="1828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7144" y="21488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58%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578608"/>
            <a:ext cx="4114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6517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UMKM · GaaS entry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2578608"/>
            <a:ext cx="22860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2651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35rb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2578608"/>
            <a:ext cx="1828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67144" y="2651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47%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081528"/>
            <a:ext cx="4114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315468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UMKM · Pagar (sudah web)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081528"/>
            <a:ext cx="22860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31546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15rb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3081528"/>
            <a:ext cx="1828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67144" y="3154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60%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584448"/>
            <a:ext cx="4114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6576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Sekolah · struktur sama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3584448"/>
            <a:ext cx="22860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1144" y="3657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20–35rb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12280" y="3584448"/>
            <a:ext cx="1828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67144" y="3657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47–58%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Volume UMKM = margin % OK, laba absolut kecil — batch support wajib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23/33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A8 · Finance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Finance · Startup &amp; Corporat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36576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Paket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572768"/>
            <a:ext cx="32004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23944" y="1645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Jual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1828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4344" y="16459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Margin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075688"/>
            <a:ext cx="36576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148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Landing+pagar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2075688"/>
            <a:ext cx="32004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23944" y="21488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45rb/bln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075688"/>
            <a:ext cx="1828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21488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64%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578608"/>
            <a:ext cx="36576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651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Landing+Tepi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2578608"/>
            <a:ext cx="32004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23944" y="26517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75rb/bln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2578608"/>
            <a:ext cx="1828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4344" y="2651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63%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081528"/>
            <a:ext cx="36576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31546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Job Wasit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3081528"/>
            <a:ext cx="32004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23944" y="3154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200rb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3081528"/>
            <a:ext cx="1828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24344" y="3154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63%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584448"/>
            <a:ext cx="36576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657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Loop GaaS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80" y="3584448"/>
            <a:ext cx="32004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23944" y="36576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Rp 300rb/bln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9480" y="3584448"/>
            <a:ext cx="1828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24344" y="3657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68%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4087368"/>
            <a:ext cx="36576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41605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Corporat on-prem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69080" y="4087368"/>
            <a:ext cx="32004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23944" y="41605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Quote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9480" y="4087368"/>
            <a:ext cx="1828800" cy="502920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24344" y="4160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Custom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24/33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A9 · Finance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Finance · Pemerintah / B2G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Lisensi Edge On-Prem: Rp 18.000.000 / tahun (1 zona/DC ilustrasi)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Loop On-Prem wajib: Rp 3.500.000 / bulan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Tahun 1 tipikal 1 DC: jual ~Rp 60 jt · COGS ~Rp 15 jt · laba ~Rp 45 jt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Source &amp; SOC control plane TIDAK diserahkan (COWORK_B2G.md)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Pitching ≠ pengadaan SIPLah/E-Katalog selesai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Mitigasi: packaging M2 · kontrak NDA · pilot staging dulu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25/33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A10 · BMC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Business Model Canvas (detail)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32004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Blok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572768"/>
            <a:ext cx="804672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6744" y="1645920"/>
            <a:ext cx="7955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Isi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103120"/>
            <a:ext cx="32004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217627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Value Prop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103120"/>
            <a:ext cx="804672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2176272"/>
            <a:ext cx="7955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Wasit HTTP + entry site · loop jujur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633472"/>
            <a:ext cx="32004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706624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Customer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2633472"/>
            <a:ext cx="804672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2706624"/>
            <a:ext cx="7955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Fintech · integrator · UMKM upsell · B2G DC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163824"/>
            <a:ext cx="32004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3236976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Channels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3163824"/>
            <a:ext cx="804672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3236976"/>
            <a:ext cx="7955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Portal · WA · demo lab · pitch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694176"/>
            <a:ext cx="32004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3767328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Revenue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3694176"/>
            <a:ext cx="804672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66744" y="3767328"/>
            <a:ext cx="7955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Starter · Job · Loop · Edge license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224528"/>
            <a:ext cx="32004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4297680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Cost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4224528"/>
            <a:ext cx="804672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6744" y="4297680"/>
            <a:ext cx="7955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Operator time · listrik PC · R&amp;D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754880"/>
            <a:ext cx="320040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482803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Key Resources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4754880"/>
            <a:ext cx="8046720" cy="53035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66744" y="4828032"/>
            <a:ext cx="7955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Gateway · NEX-RED · Job PG · IP proses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26/33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A11 · Transparency (PIDI prinsip #6)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Limitations &amp; Klaim yang TIDAK Kami Buat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Bukan SOC otonom 24/7 — operator L0/L1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Bukan pentest exploit / Shannon parity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Bukan eBPF/XDP nyata — eBPF stub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Bukan GRC bank penuh — irisan kanal web/API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Bukan approve regulator POJK/BSSN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Channel Starter ≠ Loop GaaS di Rp 20rb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B2G on-prem = pitching; packaging produksi belum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Billing Midtrans massal ditunda (fail-closed)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Satu PROTECTED_HOST per instance — bukan multi-tenant massal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LIMITATIONS.md · AGENTS.md — juri menghargai kejujuran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27/33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A12 · Showcasing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Demo SOP — 60–120 Detik + Backup 3 Lapis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Alur demo: Operator → Job Cowork → approve L0 → artefak → site di belakang WAF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Tier 1: Live demo (START-FOR-JURY.bat · portfolio.nexus-lab.test)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Tier 2: Video rekaman 60–90 detik di harddisk lokal (WAJIB siapkan)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Tier 3: Screenshot flow di slide ini jika jaringan gagal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DILARANG: feature dump semua menu · login panjang di panggung · klaim fitur roadmap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Alokasi offline: ~4 menit demo (PANDUAN-SHOWCASING § Tahap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28/33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A13 ·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Distribusi Pilot — PC + Tunnel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Host: PC operator 24/7 (bukan VPS dulu) — DISTRIBUTION_PILOT.md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Publik: Cloudflare Tunnel → Caddy :80 → WAF :8080 → origin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TIDAK di-tunnel: SOC :3001, control :8081, DB, NEX-RED mentah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Copy jujur ke juri: pilot infra operator — bukan SLA data center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Script: deploy-local/jury/START-FOR-JURY.bat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29/33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A14 · Validation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Template Validasi Lapangan (ISI data tim)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Wawancara #1: [Role · Instansi] — Pain: bukti pengendalian berulang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Wawancara #2: [Role · Instansi] — Pain: gap WAF vs origin tidak terlihat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Wawancara #3: [UMKM/fintech] — Willingness: Job vs Loop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Observasi: alur deploy rilis → tidak ada replay otomatis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LOI: [nama instansi / status: draft / signed / belum]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⚠ ISI dengan data nyata tim Anda sebelum final submit — jangan presentasi template kosong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Checklist PIDI #8: bukti di luar asumsi internal tim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30/33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A15 · Q&amp;A Cheat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Checklist Eligibility — Jawaban Tim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72768"/>
            <a:ext cx="5486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4592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572768"/>
            <a:ext cx="50292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64592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Pertanyaan PIDI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572768"/>
            <a:ext cx="55778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44184" y="164592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Jawaban singkat + rujuk slide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011680"/>
            <a:ext cx="5486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08483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011680"/>
            <a:ext cx="50292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" y="208483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Bukti masalah?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011680"/>
            <a:ext cx="55778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44184" y="208483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Ya — slide 2–3 + A14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450592"/>
            <a:ext cx="5486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52374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2450592"/>
            <a:ext cx="50292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" y="252374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Alignment PS?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450592"/>
            <a:ext cx="55778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44184" y="252374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PS1 Manajemen Risiko — slide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2889504"/>
            <a:ext cx="5486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296265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2889504"/>
            <a:ext cx="50292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" y="296265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Tanpa buzzword?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2889504"/>
            <a:ext cx="55778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44184" y="296265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Job Cowork = wasit loop — slide 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328416"/>
            <a:ext cx="5486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40156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3328416"/>
            <a:ext cx="50292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" y="3401568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Core use case built?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3328416"/>
            <a:ext cx="55778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44184" y="340156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Ya Level 2 — slide 6 + demo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767328"/>
            <a:ext cx="5486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384048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" y="3767328"/>
            <a:ext cx="50292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384048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Alur input→output?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3767328"/>
            <a:ext cx="55778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44184" y="38404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3-layer slide 7 + A1–A2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4206240"/>
            <a:ext cx="5486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427939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0120" y="4206240"/>
            <a:ext cx="50292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4984" y="427939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Data testing?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89320" y="4206240"/>
            <a:ext cx="55778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44184" y="427939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Ya — slide 8 + A5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4645152"/>
            <a:ext cx="5486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" y="471830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" y="4645152"/>
            <a:ext cx="50292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" y="471830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Dampak metrik?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89320" y="4645152"/>
            <a:ext cx="55778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44184" y="471830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Tabel slide 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" y="5084064"/>
            <a:ext cx="5486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6344" y="515721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0120" y="5084064"/>
            <a:ext cx="50292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4984" y="515721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Validasi pasar?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89320" y="5084064"/>
            <a:ext cx="55778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44184" y="515721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Pilot WA — slide 10 + A14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5522976"/>
            <a:ext cx="5486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6344" y="559612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9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0120" y="5522976"/>
            <a:ext cx="50292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4984" y="5596128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Differentiation?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89320" y="5522976"/>
            <a:ext cx="55778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44184" y="55961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Slide 5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1480" y="5961888"/>
            <a:ext cx="5486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6344" y="603504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10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0120" y="5961888"/>
            <a:ext cx="50292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4984" y="603504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Tim jelas?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89320" y="5961888"/>
            <a:ext cx="55778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44184" y="603504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Slide 12 — isi nama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1480" y="6400800"/>
            <a:ext cx="5486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6344" y="647395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11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0120" y="6400800"/>
            <a:ext cx="50292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4984" y="647395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Roadmap?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989320" y="6400800"/>
            <a:ext cx="55778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44184" y="647395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Slide 13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11480" y="6839712"/>
            <a:ext cx="5486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6344" y="691286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D4BF"/>
                </a:solidFill>
                <a:latin typeface="Calibri"/>
              </a:rPr>
              <a:t>12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0120" y="6839712"/>
            <a:ext cx="502920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984" y="691286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Built vs planned?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89320" y="6839712"/>
            <a:ext cx="5577840" cy="438912"/>
          </a:xfrm>
          <a:prstGeom prst="roundRect">
            <a:avLst/>
          </a:prstGeom>
          <a:solidFill>
            <a:srgbClr val="0E16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44184" y="691286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Slide 6 + A11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31/33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3D2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ADDITIONAL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A16 · Appendix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Referensi Repo &amp; Dokumen Hidup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docs/PRODUCT_MODEL.md — model GaaS + Alur A/B/C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docs/PRICING_UNIT_ECONOMICS.md — angka finance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docs/COWORK_B2B.md · COWORK_B2G.md — GTM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docs/LIMITATIONS.md · CAPABILITIES.md — kejujuran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docs/DISTRIBUTION_PILOT.md · JURY_PUBLIC_ACCESS.md — demo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NEX-RED/jobs/ · nexus-core-gateway/ · nexus-admin-dashboard/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 Repo: github.com/Thbetyfu/NEXUS-CYBER-FASE3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Part B · Q&amp;A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32/33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"/>
            <a:ext cx="2560320" cy="347472"/>
          </a:xfrm>
          <a:prstGeom prst="roundRect">
            <a:avLst/>
          </a:prstGeom>
          <a:solidFill>
            <a:srgbClr val="0D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Nexus Cyber siap pilot — dengan bukti, bukan klaim.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•  PS1 · Manajemen Risiko — loop wasit kanal digital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•  Functional prototype · defense delta · replay jujur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•  Milestone berikutnya: klien Loop + packaging Edge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•  Terima kasih — kami siap Q&amp;A (rujuk slide Additional)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Nexus Cyber · PIDI Capstone · 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33/33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