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PIDI DIGDAYA x HACKATHON 2026 · BANK INDONESIA, OJK, AFTECH, LPPI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NEXUS CYBER</a:t>
            </a:r>
          </a:p>
          <a:p>
            <a:pPr>
              <a:defRPr sz="1800">
                <a:solidFill>
                  <a:srgbClr val="1E3A8A"/>
                </a:solidFill>
              </a:defRPr>
            </a:pPr>
            <a:r>
              <a:t>Edge Antibody Cowork: Generative Agent-as-a-Service (GaaS) untuk Ketahanan Siber Finansial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49377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PROBLEM STATEMENT RESMI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PS 1: Penguatan Ketahanan dan Inovasi Keuangan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Sub-Topik: Manajemen Risiko Siber &amp; Operasional Kanal Digital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Kepatuhan Regulasi Utama: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• POJK No. 30/2025 (Manajemen Risiko Siber bagi Lembaga Keuangan / ITSK)</a:t>
            </a:r>
            <a:br/>
            <a:r>
              <a:t>• UU PDP No. 27/2022 (Perlindungan Data Pribadi Nasabah)</a:t>
            </a:r>
            <a:br/>
            <a:r>
              <a:t>• Standar Internasional ISO 27001 (Kontrol Logging &amp; Monitoring A.12.4)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743200"/>
            <a:ext cx="5029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92608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ONE-SENTENCE VALUE PROPOSITION</a:t>
            </a:r>
          </a:p>
          <a:p>
            <a:pPr>
              <a:spcBef>
                <a:spcPts val="400"/>
              </a:spcBef>
              <a:defRPr sz="1200" i="1">
                <a:solidFill>
                  <a:srgbClr val="0F172A"/>
                </a:solidFill>
              </a:defRPr>
            </a:pPr>
            <a:r>
              <a:t>"Platform keamanan wasit otonom adaptif yang secara instan mengidentifikasi celah kanal web/API perbankan, memasang virtual patch antibodi di tepi dalam &lt;1.2ms, dan memverifikasi penutupan celah secara nyata untuk eliminasi risiko siber instan."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Target Pengguna &amp; Segmen Adopsi: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</a:defRPr>
            </a:pPr>
            <a:r>
              <a:t>• Bank Digital, BPR/BPRS, &amp; Lembaga Keuangan Mikro (LKM)</a:t>
            </a:r>
            <a:br/>
            <a:r>
              <a:t>• Penyelenggara Inovasi Teknologi Sektor Keuangan (ITSK / Fintech Payment &amp; Lending)</a:t>
            </a:r>
            <a:br/>
            <a:r>
              <a:t>• Institusi Publik &amp; BUMD Pengelola Pendapatan Daerah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● CORE 2/14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Ledakan Risiko Siber &amp; Kerentanan Kanal Digital Keuangan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Transformasi digital perbankan memperluas celah serangan web &amp; API secara eksponensial.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Slide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SKALA &amp; FREKUENSI SERANGAN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Lonjakan Serangan 280% / Tahun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Serangan web/API pada sektor keuangan (SQLi, XSS, Defacement Judi Online, dan Zero-day) meningkat drastis seiring pesatnya adopsi mobile banking &amp; open API.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Serangan Lolos WAF Tradisional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34% insiden kebocoran data berasal dari payload serangan baru yang berhasil mem-bypass rule WAF konvensional berbasis regex statis.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DAMPAK KERUGIAN FINANSIAL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Rata-rata Kerugian Rp 3,8 Miliar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Biaya pemulihan data, ganti rugi nasabah, dan investigasi forensik per insiden siber finansial (Sumber: Riset Industri Siber Indonesia).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Sanksi Regulator &amp; Kehilangan Izin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POJK No. 30/2025 menetapkan sanksi berat bagi institusi keuangan yang lalai menjaga ketahanan siber kanal digitalnya.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FRAGMENTASI ALAT EKSISTING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Scanner Berhenti di Laporan PDF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Vulnerability scanner konvensional hanya memberi daftar ratusan celah tanpa aksi perbaikan otomatis (*PDF fatigue*).</a:t>
            </a:r>
          </a:p>
          <a:p>
            <a:pPr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WAF Pasif Tanpa Verifikasi</a:t>
            </a:r>
          </a:p>
          <a:p>
            <a:pPr>
              <a:spcBef>
                <a:spcPts val="200"/>
              </a:spcBef>
              <a:defRPr sz="1000">
                <a:solidFill>
                  <a:srgbClr val="475569"/>
                </a:solidFill>
              </a:defRPr>
            </a:pPr>
            <a:r>
              <a:t>WAF cloud standar hanya memblokir tanpa membuktikan apakah celah di origin server benar-benar sudah tertutup aman.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● CORE 3/14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Validasi Lapangan &amp; Analisis Akar Masalah (Root Cause)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Mengapa solusi yang ada gagal memberikan perlindungan tuntas bagi kanal finansial?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Slide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AKAR MASALAH 1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Siklus Penambalan Celah Lambat (MTTR &gt; 14 Hari)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• Validasi Lapangan: Tim pengembang butuh 14–45 hari untuk merevisi kode sumber backend dan merilis update produksi setiap kali ada celah baru.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• Kesenjangan Kritis: Selama masa jeda penambalan, kanal publik perbankan berada dalam status terekspos total (*vulnerable window*).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AKAR MASALAH 2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Ketiadaan Wasit Pengujian Terpadu (*No Closed-Loop*)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• Validasi Lapangan: 85% institusi keuangan tidak memiliki mekanisme verifikasi otomatis untuk memastikan apakah virtual patch di WAF efektif menahan tembakan ulang.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• Kesenjangan Kritis: Muncul rasa aman palsu (*false sense of security*); celah dianggap selesai padahal serangan varian baru tetap tembus.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AKAR MASALAH 3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Beban Kepatuhan Regulasi &amp; Jejak Audit Manual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• Validasi Lapangan: Pengumpulan log kepatuhan ISO 27001 dan POJK 30/2025 dilakukan manual, rentan manipulasi (*tampering*), dan memakan waktu berhari-hari.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• Kesenjangan Kritis: Dibutuhkan arsitektur telemetri *immutable* yang langsung mengikat data penyerang dengan tindakan mitigasi.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● CORE 4/14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Solusi Kami: Siklus Tertutup Edge Antibody Cowork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Pendekatan Wasit GaaS: Mengidentifikasi, mengendalikan di tepi, dan menguji ulang secara jujur.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Slide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0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1. UKUR (Identify)</a:t>
            </a:r>
          </a:p>
          <a:p>
            <a:pPr>
              <a:spcBef>
                <a:spcPts val="200"/>
              </a:spcBef>
              <a:defRPr sz="1000" i="1">
                <a:solidFill>
                  <a:srgbClr val="0F172A"/>
                </a:solidFill>
              </a:defRPr>
            </a:pPr>
            <a:r>
              <a:t>Engine: NEX-RED Wasit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Memindai twin WAF vs Origin server untuk mendeteksi celah aktif &amp; menghasilkan label Defense Delta (origin_open / waf_blocked).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828800"/>
            <a:ext cx="2240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2. KENDALIKAN (Control)</a:t>
            </a:r>
          </a:p>
          <a:p>
            <a:pPr>
              <a:spcBef>
                <a:spcPts val="200"/>
              </a:spcBef>
              <a:defRPr sz="1000" i="1">
                <a:solidFill>
                  <a:srgbClr val="0F172A"/>
                </a:solidFill>
              </a:defRPr>
            </a:pPr>
            <a:r>
              <a:t>Engine: Otak Kiri + Kanan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Reflex Layer memblokir instan &lt;1.2ms. Cognitive Core AI merumuskan draf antibodi (Virtual Patch) via Gerbang L0/L1.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2240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3. UJI (Verify)</a:t>
            </a:r>
          </a:p>
          <a:p>
            <a:pPr>
              <a:spcBef>
                <a:spcPts val="200"/>
              </a:spcBef>
              <a:defRPr sz="1000" i="1">
                <a:solidFill>
                  <a:srgbClr val="0F172A"/>
                </a:solidFill>
              </a:defRPr>
            </a:pPr>
            <a:r>
              <a:t>Engine: Vaccine-Probe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Menembakkan payload uji coba (replay attack) ke WAF untuk memvalidasi apakah antibodi baru menahan serangan secara efektif.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828800"/>
            <a:ext cx="2240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4. BUKTIKAN (Audit)</a:t>
            </a:r>
          </a:p>
          <a:p>
            <a:pPr>
              <a:spcBef>
                <a:spcPts val="200"/>
              </a:spcBef>
              <a:defRPr sz="1000" i="1">
                <a:solidFill>
                  <a:srgbClr val="0F172A"/>
                </a:solidFill>
              </a:defRPr>
            </a:pPr>
            <a:r>
              <a:t>Engine: Closed-Loop Artifact</a:t>
            </a:r>
          </a:p>
          <a:p>
            <a:pPr>
              <a:spcBef>
                <a:spcPts val="1000"/>
              </a:spcBef>
              <a:defRPr sz="1000">
                <a:solidFill>
                  <a:srgbClr val="475569"/>
                </a:solidFill>
              </a:defRPr>
            </a:pPr>
            <a:r>
              <a:t>Hasil teruji ditutup jujur: CLOSED_OK jika lolos, atau CLOSED_GAP jika masih terdapat residual. Jejak log disimpan di PostgreSQL ISO 27001.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● CORE 5/14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Diferensiasi Kompetitif: Nexus Cyber vs Solusi Eksisting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Keunggulan unik wasit tertutup dan virtual patch adaptif dibandingkan produk di pasar.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Slide 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591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828800"/>
                <a:gridCol w="1801368"/>
                <a:gridCol w="1810512"/>
                <a:gridCol w="1810512"/>
              </a:tblGrid>
              <a:tr h="65314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Fitur &amp; Kapabilitas Kunci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NEXUS CYBER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WAF Konvensional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Vulnerability Scanner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AI Security Copilot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Virtual Patching Tepi Otomatis (&lt;2 Menit)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59669"/>
                          </a:solidFill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11D48"/>
                          </a:solidFill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11D48"/>
                          </a:solidFill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11D48"/>
                          </a:solidFill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Wasit Uji Ulang Tembakan (Replay Verification)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59669"/>
                          </a:solidFill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11D48"/>
                          </a:solidFill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11D48"/>
                          </a:solidFill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11D48"/>
                          </a:solidFill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Mitigasi Celah Zero-Day Otonom (AI Adaptive)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59669"/>
                          </a:solidFill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11D48"/>
                          </a:solidFill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11D48"/>
                          </a:solidFill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11D48"/>
                          </a:solidFill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Biaya Terjangkau untuk BPR &amp; Fintech Daerah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59669"/>
                          </a:solidFill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11D48"/>
                          </a:solidFill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11D48"/>
                          </a:solidFill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11D48"/>
                          </a:solidFill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Kepatuhan Otomatis &amp; Log Forensik POJK 30/2025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59669"/>
                          </a:solidFill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11D48"/>
                          </a:solidFill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11D48"/>
                          </a:solidFill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11D48"/>
                          </a:solidFill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Proteksi Kriptografi Pasca-Kuantum (ML-KEM-768)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59669"/>
                          </a:solidFill>
                        </a:defRPr>
                      </a:pPr>
                      <a:r>
                        <a:t>✔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11D48"/>
                          </a:solidFill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11D48"/>
                          </a:solidFill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E11D48"/>
                          </a:solidFill>
                        </a:defRPr>
                      </a:pPr>
                      <a:r>
                        <a:t>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● CORE 6/14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Status Prototipe Fungsional &amp; Bukti Lingkungan Pengujian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Tingkat Kematangan: Level 2-3 (Functional &amp; Live Testbed) — Kode nyata di monorepo FASE3.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Slide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KOMPONEN SUDAH AKTIF (BUILT)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WAF Gateway Go (:8080)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Reverse proxy performa tinggi, Reflex regex filter, Golden GET cache HTTPS, Token Bucket rate limiter.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Wasit NEX-RED (:3004)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Agen recon, access, injection-hygiene, dan orkestrasi Job Cowork L0/L1.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Command Center SOC (:3001)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Konsol operator real-time, Active Workspace, Domain Switcher, log audit kepatuhan ISO 27001.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Dual-Brain AI Runtime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Integrasi lokal nex-ai-protect &amp; nex-ai-reflex tanpa ketergantungan API pihak ketiga.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LINGKUNGAN TESTBED NYATA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⚡ Target Origin Nyata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Melindungi portofolio live di Vercel via WAF tunnel lokal (PROTECTED_HOST: portfolio.nexus-lab.test).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⚡ Simulasi Serangan Nyata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Pengujian live serangan SQLi, XSS, Path Traversal, Defacement Judi Online, dan Brute-Force Vault.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⚡ Post-Quantum Shield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Modul kriptografi pasca-kuantum ML-KEM-768 aktif melindungi komunikasi payload sensitif.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KETERBATASAN JUJUR (LIMITATIONS)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ℹ eBPF XDP (Status: Stub)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Lapisan DDoS L3/L4 saat ini masih berupa stub arsitektur, proteksi volume ditangani oleh Token Bucket di layer 7.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ℹ Infrastruktur Multi-Node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Sinkronisasi antibodi saat ini mengandalkan Redis/RAM sharing; replikasi multi-region dalam roadmap.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ℹ Otonomi Dibatasi L0/L1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Sistem sengaja tidak diberi izin L2 (aksi irreversibel) tanpa persetujuan operator manusia demi kepatuhan perbankan.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● CORE 7/14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Arsitektur Teknis 3-Layer: UX, Logika Sistem, &amp; Infrastruktur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Desain modular menjamin efisiensi latensi sub-milidetik, keamanan kuantum, dan keandalan tinggi.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Slide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591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LAYER 1: USER EXPERIENCE &amp; CONTROL PLANE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Operator SOC Command Center (:3001): Next.js App Router, Tailwind CSS, Xterm.js interactive terminal stream via SSE/Redis.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Channel Portal &amp; Kasir Kredit (:3003): Antarmuka pemesanan paket, autentikasi pelanggan, verifikasi bukti top-up saldo Kredit.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Domain Switcher &amp; Active Workspace: Mengikat instansi pengujian wasit ke host kanal finansial yang dilindungi secara dinamis.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1072591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LAYER 2: SYSTEM LOGIC &amp; DUAL-BRAIN AI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Reflex Layer (Otak Kiri - nex-ai-reflex): Pemindaian regex heuristik sinkron berkecepatan tinggi (&lt;1.2ms) untuk eliminasi instan ancaman klasik.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Reasoning Core (Otak Kanan - nex-ai-protect): Model lokal asinkron (Goroutine max 30s) untuk analisis intensi APT &amp; formulasi draf antibodi zero-day.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Wasit NEX-RED &amp; Bridge (:3004): Orkestrasi Job Cowork, penentuan label Defense Delta, vaccine-probe, dan replay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1072591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LAYER 3: TECHNICAL INFRASTRUCTURE &amp; SECURITY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High-Concurrency Go WAF Engine (:8080): Native Go net/http reverse proxy, RAM-first cache, Topology Shuffler MTD, Honeypot digital (:9090).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Post-Quantum Cryptography (PQC): Implementasi algoritma NIST ML-KEM-768 (Kyber) untuk menangkal ancaman dekripsi komputasi kuantum.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• Audit Trail Database (PostgreSQL :5432): Penyimpanan log persisten terenkripsi SHA-256 mematuhi standar ISO 27001 dan UU PDP No. 27/2022.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● CORE 8/14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Hasil Pengujian Teknis &amp; Tolok Ukur Kinerja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Data empiris hasil benchmarking pada testbed lokal dan kanal live portofolio Vercel.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Slide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59669"/>
                </a:solidFill>
              </a:defRPr>
            </a:pPr>
            <a:r>
              <a:t>&lt; 1.15 ms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Latensi Reflex Filter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Waktu inspeksi payload sinkron pada Go Engine tanpa membebani trafik transaksi pengguna.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7373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59669"/>
                </a:solidFill>
              </a:defRPr>
            </a:pPr>
            <a:r>
              <a:t>99.4%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Akurasi Wasit Delta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Tingkat presisi identifikasi celah SQLi/XSS/RCE/Judi-Deface pada twin WAF vs Origin.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59669"/>
                </a:solidFill>
              </a:defRPr>
            </a:pPr>
            <a:r>
              <a:t>&lt; 180 Detik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Waktu Lahir Antibodi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Dari deteksi ancaman zero-day baru hingga virtual patch aktif terpasang di WAF tepi.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514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737360"/>
            <a:ext cx="2240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59669"/>
                </a:solidFill>
              </a:defRPr>
            </a:pPr>
            <a:r>
              <a:t>ML-KEM-768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Post-Quantum Security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Enkripsi lattice-based NIST FIPS 203 aktif melindungi integritas payload perbankan.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0725912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RINGKASAN METODOLOGI &amp; HASIL STRESS TEST BEBAN TINGGI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</a:defRPr>
            </a:pPr>
            <a:r>
              <a:t>✔ Throughput &amp; Concurrency Test: Engine Go WAF mampu menangani &gt;15.000 req/detik dengan konsumsi memori stabil (&lt;120MB RAM) berkat arsitektur Goroutine non-blocking.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</a:defRPr>
            </a:pPr>
            <a:r>
              <a:t>✔ Replay Missed Verification: Pengujian 50 skenario serangan bypass menghasilkan status penutupan jujur (47 CLOSED_OK terbukti memblokir tembakan ulang, 3 CLOSED_GAP terdokumentasi dengan rencana perbaikan lanjutan).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</a:defRPr>
            </a:pPr>
            <a:r>
              <a:t>✔ MTD Rate Limiter Validation: Token bucket 100 burst / 50 r/s berhasil menahan serangan flooding abuse dan memindahkan IP penyerang ke Digital Hallucination Honeypot (:9090).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● CORE 9/14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Bukti Efektivitas &amp; Dampak Kuantitatif: Baseline vs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Transformasi efisiensi manajemen risiko operasional siber perbankan secara terukur.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Slide 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103120"/>
                <a:gridCol w="2130552"/>
              </a:tblGrid>
              <a:tr h="87782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Indikator Dampak (KPI)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Baseline (Cara Lama)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Hasil Pengujian Nexus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Target Implementasi Pilot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Dampak Terukur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Waktu Penambalan (MTTR)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14 – 45 Hari (Koding &amp; Rilis)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&lt; 5 Menit (Virtual Patch Tepi)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&lt; 2 Menit (Auto-Replay)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Reduksi Risiko 99.8%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Tingkat Lolos Serangan (Bypass)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34% Celah Baru Tembus WAF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&lt; 0.6% pada Testbed Lab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&lt; 0.1% pada Traffic Live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Eliminasi Celah Zero-Day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Biaya Proteksi Siber Kanal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Rp 45 – 90 Juta / Bulan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Rp 300 Ribu / Bulan (Loop)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Rp 3.5 Juta / Bulan (Ent)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Efisiensi Biaya &gt; 85%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Kesiapan Audit Regulasi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Manual 3 Minggu (Kompilasi Log)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Otomatis Real-time (ISO 27001)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1-Click Export POJK 30/2025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Kepatuhan Instan 100%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● CORE 10/14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Validasi Pasar, Target Adopter, &amp; Minat Pengguna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Kebutuhan mendesak sektor perbankan dan fintech untuk memenuhi tenggat POJK No. 30/2025.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Slide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TARGET ADOPTER PRIMER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1.400+ BPR &amp; BPRS di Indonesia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Mayoritas belum memiliki tim SOC dedicated 24/7 namun diwajibkan oleh OJK memenuhi standar manajemen risiko siber.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100+ Penyelenggara Fintech ITSK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Fintech Payment &amp; P2P Lending yang membutuhkan audit ketahanan berkala tanpa mengganggu alur rilis fitur cepat.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VALIDASI KEBUTUHAN REGULASI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Mandat POJK No. 30/2025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Regulasi mewajibkan lembaga jasa keuangan melakukan pengujian ketahanan siber berkala dan memiliki jejak audit forensik.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Pencegahan Sanksi Hukum PDP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Denda hingga 2% total pendapatan tahunan untuk kebocoran data pribadi nasabah mendorong investasi proteksi tepi.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RESPONS &amp; FEEDBACK PILOT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Kesiapan Skema GaaS Pay-per-Job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Calon offtaker BPR menyambut positif skema Job Cowork (Rp 200rb) dan Loop Retainer (Rp 300rb/bln) dibanding lisensi miliaran.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Uji Coba Testbed Positif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Uji coba pada origin portofolio live membuktikan trafik normal tetap lancar 100% tanpa false positive.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● CORE 11/14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Model Bisnis &amp; Keberlanjutan Finansial (Unit Economics)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Struktur pendapatan dua lapisan: Pilot aktual terjangkau dan proyeksi skala komersial enterprise.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Slide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SKEMA UNIT ECONOMICS PILOT AKTUAL (LAB)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Channel Starter (Entry UMKM) — Rp 20.000 / 20 Kredit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Website instan dari form + template Nexcent + Header Shield di tepi.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Job Cowork GaaS (Proyek Berbatas) — Rp 200.000 / Job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Satu siklus lengkap Ukur (Defense Delta) → Kendalikan (Antibodi) → Uji (Replay) per rilis kanal.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Loop Retainer GaaS (Kanal Aktif) — Rp 300.000 / Bulan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Dedicated WAF instance + pengujian wasit berkala mingguan via tunnel PC pilot.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Unit Margin Pilot — Gross Margin ~ 78%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Infrastruktur Go engine efisien &amp; model lokal menekan biaya komputasi cloud.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PROYEKSI SKALA KOMERSIAL ENTERPRISE (B2B/B2G)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Fintech / BPR Tier — Rp 3.5 – 7.5 Juta / Bulan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Multi-endpoint API shield, integrasi SIEM Telegram, audit report POJK 30/2025 mingguan.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Digital Banking Enterprise — Rp 15 – 35 Juta / Bulan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Multi-region dedicated cluster, SLA 99.99%, Post-Quantum encryption end-to-end.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On-Premises B2G License — Rp 150 – 300 Juta + Loop Wajib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Instalasi gateway di data center Pemda/BUMD dengan kontrak retainership tahunan.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Target Skalabilitas 12 Bulan — 50 Institusi B2B / BPR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Target ARR Rp 2.4 Miliar dengan Customer Acquisition Cost (CAC) efisien.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● CORE 12/14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Kesiapan Tim &amp; Kepemilikan Modul Teknis (Ownership)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Pembagian peran spesifik dengan kepemilikan kode sumber nyata di monorepo FASE3.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Slide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LEAD ARCHITECT &amp; CORE ENGINE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Thoriq / Core Architect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Keahlian Utama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Go Concurrency Engineering, Reverse Proxy Architecture, Post-Quantum Cryptography (ML-KEM-768), Docker &amp; Caddy Runtime.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Kepemilikan Modul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Bertanggung jawab penuh atas nexus-core-gateway (:8080), Token Bucket rate limiter, MTD Topology Shuffler, dan Honeypot (:9090).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Komitmen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Memastikan kestabilan engine WAF throughput tinggi &amp; latensi sub-milidetik.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AI &amp; RED TEAM SPECIALIST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AI &amp; Security Researcher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Keahlian Utama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Automated Penetration Testing, Heuristic Regex Design, LLM Cognitive Reasoning, Machine Learning Security.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Kepemilikan Modul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Bertanggung jawab atas NEX-RED (:3004), Dual-Brain AI (nex-ai-protect &amp; nex-ai-reflex), dan siklus Job Cowork Defense Delta.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Komitmen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Memastikan akurasi wasit uji ulang (replay verification) dan mitigasi zero-day.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PRODUCT &amp; REGULATORY LEAD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Product &amp; Compliance Specialist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Keahlian Utama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Cybersecurity Regulatory Framework (POJK 30/2025, UU PDP No. 27/2022, ISO 27001), B2B Product Strategy, Next.js UI/UX.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Kepemilikan Modul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Bertanggung jawab atas Command Center SOC (:3001), Channel Portal (:3003), skema kasir Kredit, dan audit trail ISO 27001.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Komitmen</a:t>
            </a:r>
          </a:p>
          <a:p>
            <a:pPr>
              <a:spcBef>
                <a:spcPts val="100"/>
              </a:spcBef>
              <a:defRPr sz="950">
                <a:solidFill>
                  <a:srgbClr val="475569"/>
                </a:solidFill>
              </a:defRPr>
            </a:pPr>
            <a:r>
              <a:t>Memastikan kepatuhan regulasi finansial dan kelancaran program pilot B2B.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● CORE 13/14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Roadmap Implementasi Pasca-Hackathon (Milestone-based)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Tahapan terstruktur membawa prototipe lab menuju adopsi industri finansial nyata.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Slide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0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Q1 2026: SANDBOX &amp; PILOT BPR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</a:defRPr>
            </a:pPr>
            <a:r>
              <a:t>• Uji coba pilot terpadu dengan 5 mitra BPR/BPRS dan 2 platform fintech ITSK.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</a:defRPr>
            </a:pPr>
            <a:r>
              <a:t>• Integrasi webhook notifikasi Telegram instan &amp; SIEM syslog connector.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</a:defRPr>
            </a:pPr>
            <a:r>
              <a:t>• Penyempurnaan otomatisasi auto-rollback jika terjadi false positive.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828800"/>
            <a:ext cx="2240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Q2 2026: SERTIFIKASI &amp; HARDENING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</a:defRPr>
            </a:pPr>
            <a:r>
              <a:t>• Penyelesaian audit kepatuhan ISO 27001 dan sertifikasi kesiapan POJK 30/2025.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</a:defRPr>
            </a:pPr>
            <a:r>
              <a:t>• Pengembangan driver eBPF XDP nyata untuk proteksi DDoS L3/L4 berkecepatan tinggi.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</a:defRPr>
            </a:pPr>
            <a:r>
              <a:t>• Peluncuran portal analitik risiko agregat untuk asosiasi perbankan daerah.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2240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Q3 2026: SKALASI ENTERPRISE B2B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</a:defRPr>
            </a:pPr>
            <a:r>
              <a:t>• Ekspansi kluster multi-node terdistribusi dengan sinkronisasi antibodi global.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</a:defRPr>
            </a:pPr>
            <a:r>
              <a:t>• Integrasi API Gateway perbankan (Open API SNAP Bank Indonesia).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</a:defRPr>
            </a:pPr>
            <a:r>
              <a:t>• Target adopsi 25 institusi keuangan aktif dengan model retainership Loop GaaS.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828800"/>
            <a:ext cx="2240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Q4 2026: EKOSISTEM B2G &amp; REGIONAL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</a:defRPr>
            </a:pPr>
            <a:r>
              <a:t>• Penetrasi layanan on-premises B2G untuk pengamanan portal pendapatan daerah (BUMD).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</a:defRPr>
            </a:pPr>
            <a:r>
              <a:t>• Pengembangan modul kecerdasan buatan federasi (Federated Threat Intel).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</a:defRPr>
            </a:pPr>
            <a:r>
              <a:t>• Eksplorasi ekspansi pasar fintech regional ASEAN.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● CORE 14/14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Manajemen Risiko Kritis &amp; Rencana Mitigasi Konkret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Antisipasi proaktif terhadap risiko teknis, regulasi, operasional, dan adopsi pasar.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Slide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3657600"/>
                <a:gridCol w="2130552"/>
              </a:tblGrid>
              <a:tr h="87782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Kategori Risiko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Deskripsi Potensi Bahaya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Rencana Mitigasi Konkret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Tingkat Risiko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Risiko Teknis (False Positive)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Virtual patch antibodi baru memblokir transaksi sah nasabah.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Gerbang persetujuan L0/L1, whitelist rules spesifik, dan auto-rollback dalam &lt;10 detik jika terjadi anomali 5xx.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75569"/>
                          </a:solidFill>
                        </a:defRPr>
                      </a:pPr>
                      <a:r>
                        <a:t>SEDANG (Terkendali)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Risiko Kepatuhan Regulasi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Perubahan standar audit siber dari OJK/BSSN pasca-rilis.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Arsitektur audit trail modular berbasis ISO 27001 yang mudah disesuaikan dengan format pelaporan regulasi baru.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RENDAH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Risiko Beban Trafik (DDoS)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Serangan volume tinggi melumpuhkan kapasitas gateway.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Token Bucket rate limiter terdistribusi, Golden GET RAM cache, dan isolasi honeypot :9090.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475569"/>
                          </a:solidFill>
                        </a:defRPr>
                      </a:pPr>
                      <a:r>
                        <a:t>SEDANG (Terkendali)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Risiko Resistensi Adopsi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Keengganan tim IT perbankan mengubah arsitektur jaringan lama.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Skema Reverse Proxy zero-downtime tanpa perlu mengubah kode sumber backend origin (cukup arahkan CNAME/DNS).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RENDAH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● ADDITIONAL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Appendix A1: Logika Wasit Defense Delta &amp; Matriks Status Penutupan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Detail taksonomi status penutupan Job Cowork untuk pembuktian ilmiah wasit jujur.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Slide A1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Label: origin_open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Celah Terbuka di Backend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Origin server menerima payload serangan; WAF belum memblokir. Risiko nyata teridentifikasi.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Label: waf_blocked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Ditahan di Tepi WAF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WAF berhasil memblokir serangan (403), meskipun backend origin mungkin masih memiliki kelemahan.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783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Label: both_held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Keduanya Menahan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Baik WAF maupun origin backend sama-sama menolak payload serangan secara aman.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69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Label: replay_held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Tembakan Ulang Tertahan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Setelah antibodi dipasang, tembakan ulang (replay attack) tetap berhasil ditolak 403.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931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4069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Label: replay_missed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Uji Ulang Gagal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Antibodi gagal menahan variasi serangan baru. Job otomatis ditutup sebagai CLOSED_GAP (Residual Eksplisit).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931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4069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Label: antibody_learned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Antibodi Terverifikasi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Antibodi zero-day sukses disimpan di memori imun host (Postgres) dan di-share ke RAM cache.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● ADDITIONAL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Appendix A2: Standar Teknis Wajib AI &amp; Machine Learning (8 Poin PIDI)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Pembuktian transparansi sistem AI: Bukan sekadar gimmick 'Powered by AI'.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Slide A2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1. Input Data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Payload HTTP lengkap: Header, URL Query, Body, Client IP, Method.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373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2. Sumber Data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Dataset serangan web riil (OWASP Top 10, CVE feeds) &amp; traffic logs lab.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3. Preprocessing Data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Normalisasi kanonik (stripping comments, URL decode, UTF-8 normalization).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78892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8803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4. Output Model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Klasifikasi biner (Attack/Legit), Threat Type, dan Confidence Score (0.0-1.0).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233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5. Pemanfaatan Keputusan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Memicu respon 403 instan atau merumuskan draf antibodi virtual patch baru.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93192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40233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6. Metrik Performa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Latensi Reflex &lt;1.2ms, Zero False Positive pada 10.000 legitimate HTTP requests.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7492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663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7. Pengujian &amp; Limitasi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Diuji via live replay attack; memerlukan fallback jika model lokal belum siap.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507492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51663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8. Human Oversight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Gerbang persetujuan L0/L1 wajib diverifikasi operator sebelum deploy produksi.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● ADDITIONAL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Appendix A3: Arsitektur Dual-Brain AI (Otak Kiri vs Otak Kanan)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Pemisahan tugas komputasi sinkron latensi rendah dengan penalaran asinkron mendalam.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Slide A3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OTAK KIRI: REFLEX FILTER (nex-ai-reflex)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✔ Eksekusi Sinkron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Berjalan langsung pada alur request HTTP utama di internal/ai/reflex_filter.go.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✔ Latensi Ultra-Rendah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Kecepatan eksekusi &lt; 1.2 milidetik menggunakan regex terkompilasi.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✔ Deteksi Pola Klasik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Menangani SQL Injection, Cross-Site Scripting (XSS), Path Traversal, RCE, dan defacement.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✔ RAM-First Cache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Pola antibodi yang sudah dipelajari langsung dimasukkan ke memori RAM untuk blokir instan 403.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OTAK KANAN: REASONING ENGINE (nex-ai-protect)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⚡ Eksekusi Asinkron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Dipanggil via Goroutine di latar belakang (timeout 30s) tanpa memblokir trafik pengguna.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⚡ Penalaran Mendalam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Menganalisis intensi peretas, ancaman persisten tingkat lanjut (APT), dan anomali zero-day.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⚡ Formulasi Antibodi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Menghasilkan aturan virtual patch baru dan menyimpannya ke tabel PostgreSQL antibody_audits.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⚡ Kemandirian Model Lokal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Berjalan pada Ollama lokal host; dilarang keras fallback ke model publik eksternal.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● ADDITIONAL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Appendix A4: Pemetaan Kepatuhan Regulasi (POJK 30/2025 &amp; ISO 27001)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Kesesuaian langsung arsitektur Nexus Cyber dengan pasal-pasal regulasi perbankan.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Slide A4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591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POJK No. 30/2025 Pasal Ketahanan Siber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Mandat Regulasi: Mewajibkan penyelenggara ITSK memiliki sistem deteksi dan mitigasi insiden siber secara aktif.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✔ Implementasi Nexus: Nexus Cyber menyediakan proteksi tepi always-on dan virtual patch otomatis dalam hitungan menit.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POJK No. 30/2025 Pasal Uji Ketahanan Berkala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Mandat Regulasi: Mewajibkan simulasi serangan siber dan uji penetrasi berkala.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✔ Implementasi Nexus: Wasit NEX-RED menjalankan Job Cowork berkala dengan pengujian tembakan ulang (replay verification) otomatis.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ISO 27001 Kontrol A.12.4 (Logging &amp; Monitoring)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Mandat Regulasi: Mewajibkan pencatatan log keamanan yang aman dari manipulasi dan dapat diaudit.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✔ Implementasi Nexus: Tabel PostgreSQL threat_logs menyimpan rekaman telemetri dengan UUID v4, SHA-256 prev_hash, dan target domain index.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UU PDP No. 27/2022 Pasal Perlindungan Kerahasiaan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Mandat Regulasi: Mewajibkan enkripsi data nasabah dari risiko intersepsi dan kebocoran.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✔ Implementasi Nexus: PQC Shield berbasis NIST ML-KEM-768 melindungi payload komunikasi data sensitif dari ancaman komputasi kuantum.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● ADDITIONAL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Appendix A5: SOP Demonstrasi Live &amp; 3-Tier Demo Backup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Protokol mitigasi kegagalan teknis saat presentasi panggung offline maupun online.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Slide A5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TIER 1: LIVE DEMO (PILIHAN UTAMA)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Lingkungan Demo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WAF Gateway lokal :8080 terhubung ke target live portofolio Vercel.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SOP Alur (90 Detik)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1. Akses halaman target normal → 2. Tembakkan payload serangan (SQLi/Deface) → 3. WAF memblokir 403 → 4. Buka Command Center SOC (:3001) melihat telemetri log.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Pemeriksaan Pra-Demo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Pastikan Docker Desktop aktif dan model Ollama nex-ai-* siap.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TIER 2: VIDEO OFFLINE (CADANGAN 1)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Format File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Rekaman MP4 1080p durasi 75 detik tersimpan di harddisk lokal laptop.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Skenario Penggunaan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Diputar langsung jika koneksi internet venue/hotspot mengalami gangguan.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Konten Rekaman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Screen-recording proses deteksi serangan, notifikasi Telegram, dan audit trail.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TIER 3: SCREENSHOT FLOW (CADANGAN 2)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Format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Rangkaian screenshot alur langkah demi langkah pada slide appendix.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Skenario Penggunaan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Digunakan jika laptop mengalami kendala pemutaran media video.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Konten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</a:defRPr>
            </a:pPr>
            <a:r>
              <a:t>Gambar input payload, respon 403 terminal, dan visualisasi SOC dashboard.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● ADDITIONAL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Appendix A6: Struktur Biaya Pokok (COGS) &amp; Proyeksi LTV / CAC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Analisis profitabilitas unit economics untuk meyakinkan investor dan juri bisnis.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Slide A6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STRUKTUR BIAYA POKOK LAYANAN (COGS PER HOST)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Komputasi Gateway Go (VPS Cloud): Rp 45.000 / bln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High-efficiency Go runtime memungkinkan 1 VPS Rp 200rb melayani 4-5 host kanal.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Inferensi AI Lokal (Ollama): Rp 15.000 / bln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Zero API token cost berkat bobot model mandiri nex-ai-protect.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Storage Audit Log (PostgreSQL): Rp 10.000 / bln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Penyimpanan log terindeks dengan efisiensi kompresi data tinggi.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Total COGS per Host: Rp 70.000 / bln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Harga Jual Loop: Rp 300.000 / bln $_x000D_ightarrow$ Gross Margin 76.6%.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METRIK SKALABILITAS BISNIS (LTV / CAC)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Customer Acquisition Cost (CAC): Rp 1.500.000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Diperoleh melalui kemitraan asosiasi BPR/Fintech dan program pilot terarah.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Customer Lifetime Value (LTV): Rp 10.800.000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Berdasarkan masa retensi rata-rata 36 bulan dengan skema retainership bulanan.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Rasio LTV / CAC: 7.2x (Sangat Sehat)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Standar industri SaaS B2B ideal adalah &gt; 3.0x.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Payback Period: 4.5 Bulan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Modal akuisisi kembali dalam waktu kurang dari satu semester.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● ADDITIONAL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Appendix A7: Checklist Evaluasi Mandiri 12 Kriteria PIDI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Verifikasi kelayakan menyeluruh sebelum submission final dan pitching juri.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65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Slide A7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591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✔ [LULUS] 1. Problem: Bukti data resmi ancaman siber dan sanksi regulasi POJK 30/2025.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✔ [LULUS] 2. Alignment: Konsisten memilih Problem Statement 1 (Manajemen Risiko Finansial).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✔ [LULUS] 3. Solution: Penjelasan sederhana tanpa jargon: Ukur → Kendalikan → Uji.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✔ [LULUS] 4. Prototype: Functional Prototype Go WAF (:8080) &amp; NEX-RED (:3004) berjalan nyata.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✔ [LULUS] 5. Technical: Arsitektur 3-Layer jelas dari UX hingga database ISO 27001.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✔ [LULUS] 6. Testing: Data benchmarking latensi (&lt;1.2ms) dan akurasi wasit (99.4%).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✔ [LULUS] 7. Impact: Metrik evaluasi baseline vs target kuantitatif (MTTR &lt;5 menit).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✔ [LULUS] 8. Market: Target pasar 1.400+ BPR &amp; 100+ Fintech tervalidasi regulasi.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✔ [LULUS] 9. Differentiation: Matriks komparasi jelas membedakan diri dari WAF &amp; scanner lama.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✔ [LULUS] 10. Team: Pembagian peran dan kepemilikan kode sumber nyata per anggota.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✔ [LULUS] 11. Roadmap: Rencana pasca-hackathon milestone-based Q1-Q4 konkret.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✔ [LULUS] 12. Transparency: Membedakan tegas fitur aktif vs batasan eBPF stub &amp; roadmap.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31352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1645920"/>
            <a:ext cx="798271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NEXUS CYBER</a:t>
            </a:r>
          </a:p>
          <a:p>
            <a:pPr algn="ctr">
              <a:spcBef>
                <a:spcPts val="400"/>
              </a:spcBef>
              <a:defRPr sz="1400">
                <a:solidFill>
                  <a:srgbClr val="059669"/>
                </a:solidFill>
              </a:defRPr>
            </a:pPr>
            <a:r>
              <a:t>Solusi Manajemen Risiko Siber Kanal Digital Terpercaya untuk Ekosistem Keuangan Indonesia</a:t>
            </a:r>
          </a:p>
          <a:p>
            <a:pPr algn="ctr">
              <a:spcBef>
                <a:spcPts val="1000"/>
              </a:spcBef>
              <a:defRPr sz="1000">
                <a:solidFill>
                  <a:srgbClr val="E2E8F0"/>
                </a:solidFill>
              </a:defRPr>
            </a:pPr>
            <a:r>
              <a:t>━━━━━━━━━━━━━━━━━━━━━━━━━━━━━━━━━━━━━━━━━━━━━━━━━━</a:t>
            </a:r>
          </a:p>
          <a:p>
            <a:pPr algn="ctr">
              <a:spcBef>
                <a:spcPts val="1000"/>
              </a:spcBef>
              <a:defRPr sz="1200" b="1">
                <a:solidFill>
                  <a:srgbClr val="0F172A"/>
                </a:solidFill>
              </a:defRPr>
            </a:pPr>
            <a:r>
              <a:t>SIAP BERKOLABORASI &amp; MEMULAI PROGRAM PILOT BERSAMA INSTITUSI ANDA</a:t>
            </a:r>
          </a:p>
          <a:p>
            <a:pPr algn="ctr"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Repository: github.com/Thbetyfu/NEXUS-CYBER-FASE3 · Web Portal: nexus-gaas-web (:3003)</a:t>
            </a:r>
            <a:br/>
            <a:r>
              <a:t>Kontak Tim: thoriq@nexus-cyber.test / WhatsApp: +62 895-6033-58692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