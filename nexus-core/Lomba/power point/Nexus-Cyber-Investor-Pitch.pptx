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INVESTOR PITCH DECK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8FAFC"/>
                </a:solidFill>
                <a:latin typeface="Calibri"/>
              </a:rPr>
              <a:t>Nexus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Calibri"/>
              </a:rPr>
              <a:t>Edge Antibody Cowork — GaaS wasit untuk kanal web/API
+ Channel Starter sebagai pintu masuk UMKM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Ukur → kendalikan → uji · residual jujur · bukan SOC otonom 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Agenda pitching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7432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Masalah &amp; pasar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Masalah &amp; urgensi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Root cause + konteks Indonesia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Persona &amp; dampak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737360"/>
            <a:ext cx="27432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Produk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Solusi GaaS + Channel Starter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Cara kerja &amp; demo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Arsitektur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7432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Bisnis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6888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Kompetitor &amp; USP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BMC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Harga per segmen + ROI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737360"/>
            <a:ext cx="27432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59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Eksekusi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Dampak aplikasi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Roadmap &amp; balik modal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Risiko &amp; mitigasi per segmen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01 ·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Inovasi digital cepat — siklus risiko HTTP terpecah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Institusi &amp; UMKM menambah portal/API; alat yang ada berhenti di tengah jalan.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1051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301"/>
                </a:solidFill>
                <a:latin typeface="Calibri"/>
              </a:rPr>
              <a:t>Scanner /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Berhenti di PDF temuan — tidak membuktikan tepi menahan.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11155680" cy="1051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301"/>
                </a:solidFill>
                <a:latin typeface="Calibri"/>
              </a:rPr>
              <a:t>WAF / CDN klasik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Blok traffic — tidak membuktikan origin masih lemah.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06240"/>
            <a:ext cx="11155680" cy="1051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301"/>
                </a:solidFill>
                <a:latin typeface="Calibri"/>
              </a:rPr>
              <a:t>Chat / Copilot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Saran saja — tidak ada uji replay jujur.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02 · URGENSI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Setiap rilis = permukaan serangan 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Fintech, ITSK, agensi web: onboarding &amp; API bertambah tiap sprint.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Deface / abuse form / IDOR pada kanal publik merusak kepercayaan dalam jam.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Regulator &amp; pemilik risiko minta jejak pengendalian — bukan janji verbal.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UMKM punya website murah tanpa pagar → target mudah &amp; massal.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Jendela: dari temuan sampai patch sering berhari-hari tanpa verifikasi ulang.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120640" cy="3931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Pertanyaan investor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68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Siapa yang membuktikan
secara berulang bahwa
celah sudah ditutup di tepi
— bukan hanya “sudah di-scan”?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02B · 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Tidak ada loop tertutup ukur → kendalikan → uji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55680" cy="9601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Pemisahan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92024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Deteksi (scanner) terpisah dari pengendalian (WAF) dan dari verifikasi (uji ulang).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11155680" cy="9601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Insentif hijau palsu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7180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Laporan cenderung “bersih” tanpa residual / replay_missed yang jujur.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11155680" cy="9601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Kurang manusia di titik kritis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02336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Aksi irreversibel tanpa gerbang L0/L1 → atau sebaliknya, semua manual lambat.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11155680" cy="9601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Distribusi salah ukuran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07492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UMKM dipaksa beli “SOC penuh”; institusi hanya dapat PDF sekali jalan.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02C · KONTEKS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Kenapa celah ini berdampak buruk di 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Digitalisasi UMKM &amp; sekolah cepat (marketplace, PPDB, portal desa) — keamanan sering “nanti saja”.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Banyak situs di hosting murah / shared / template; deface &amp; form abuse masih kejadian rutin.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Literasi risiko siber pemilik usaha rendah; vendor sering jual “aman” tanpa bukti wasit.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Kanal keuangan &amp; fintech lokal wajib jaga kepercayaan; satu insiden HTTP → reputasi &amp; biaya operasional.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Pengadaan B2G butuh narasi lisensi + retainer jujur (bukan source dump) — celah vendor yang hanya jual PDF.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Biaya enterprise WAF/SOC global terlalu mahal untuk long tail; harga warung tanpa wasit = salah unit ekonomi.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03 · USER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Siapa yang kami layani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474720" cy="19659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Pemilik UMKM / sekolah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Butuh website + pagar murah; tidak pegang SOC.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91640"/>
            <a:ext cx="3474720" cy="19659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Founder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06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Landing/API cepat; butuh Job wasit sebelum pitch/investor.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91640"/>
            <a:ext cx="3474720" cy="19659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Pemilik risiko kanal (fintech)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06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Bukti pengendalian + residual; approve L0/L1.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474720" cy="19659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IT Corporat / integrator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Hosted Job/Loop atau on-prem jika kritis.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931920"/>
            <a:ext cx="3474720" cy="19659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1605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Pengelola DC instansi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Edge berlisensi di DC + Loop wajib; source tidak diserahkan.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931920"/>
            <a:ext cx="3474720" cy="19659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1605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Operator Nexus (internal)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846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Menjalankan wasit — kokpit GaaS, bukan pelanggan.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04 · DAMPAK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Tanpa loop wasit — biaya nyata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55680" cy="100584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7185"/>
                </a:solidFill>
                <a:latin typeface="Calibri"/>
              </a:rPr>
              <a:t>Reputasi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Deface / data bocor di kanal publik → kepercayaan hilang lebih cepat dari recovery teknis.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11155680" cy="100584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7185"/>
                </a:solidFill>
                <a:latin typeface="Calibri"/>
              </a:rPr>
              <a:t>Operasional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63239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Firefight manual, rollback rilis, downtime saat “baru ketahuan” setelah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11155680" cy="100584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7185"/>
                </a:solidFill>
                <a:latin typeface="Calibri"/>
              </a:rPr>
              <a:t>Keuangan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16052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Biaya insiden + audit ulang + peluang hilang (UMKM &amp; fintech sama-sama kena).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83480"/>
            <a:ext cx="11155680" cy="100584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7185"/>
                </a:solidFill>
                <a:latin typeface="Calibri"/>
              </a:rPr>
              <a:t>Tata kelola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25780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Direksi/IT tidak punya artefak residual — keputusan berbasis asumsi.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05 · 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Dua lapisan: Channel Starter + Edge Antibody Cowork (GaaS)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301"/>
                </a:solidFill>
                <a:latin typeface="Calibri"/>
              </a:rPr>
              <a:t>Entry · Channel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Form → template → website (UMKM/sekolah).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Harga entry ~Rp 15–35rb/bulan (pilot).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Bukan Loop GaaS penuh di harga warung.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Pintu upsell ke tepi + Job.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4864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Inti · GaaS Cowork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Alur A: tepi always-on (WAF + antibodi).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Alur B: Job Cowork ukur→kendalikan→uji.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Alur C: artefak MD/JSON + residual jujur.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L0/L1: manusia pemilik risiko tetap di kursi.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06 · CARA KERJA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Siklus wasit yang bisa ditutup jujur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828800" cy="2926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2402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1.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10896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Host + izin HTTP jinak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011680"/>
            <a:ext cx="1828800" cy="2926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22402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2. Ukur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10896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Defense delta WAF vs origin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011680"/>
            <a:ext cx="1828800" cy="2926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22402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3.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310896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Antibodi / pengendalian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1828800" cy="2926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2402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4.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10896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L0 artefak / L1 pasang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1828800" cy="2926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2402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5. Uji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Vaccine + replay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2011680"/>
            <a:ext cx="1828800" cy="2926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05288" y="22402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6. Tutup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5288" y="310896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CLOSED_OK atau CLOSED_GAP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B301"/>
                </a:solidFill>
                <a:latin typeface="Calibri"/>
              </a:rPr>
              <a:t>Aturan produk: replay_missed → CLOSED_GAP (bukan hijau palsu).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06B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Apa yang ditunjukkan ke investor / juri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Site lab (portofolio) di belakang WAF — PROTECTED_HOST, bukan tembak origin langsung.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Portal Channel (`nexus-channel-portal`) — pintu jual per segmen (UMKM → Pemerintah).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Operator GaaS Console — jalankan Job, antrian approve L0/L1, unduh artefak (internal).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Artefak MD/JSON: delta wasit, residual, status antibodi — bukti untuk pemilik risiko.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Pilot distribusi: PC operator 24/7 + Cloudflare Tunnel (SOC tidak dipublikasikan).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Jujur di slide demo: Channel Starter = lab v0.1; mesin Job Cowork sudah ada di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07 · ARSITEKTUR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Diagram alur Nexus Cyber (lab / pilot)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828800" cy="1371600"/>
          </a:xfrm>
          <a:prstGeom prst="roundRect">
            <a:avLst/>
          </a:prstGeom>
          <a:solidFill>
            <a:srgbClr val="0E161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Pengunjung
/ Internet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103120"/>
            <a:ext cx="1828800" cy="1371600"/>
          </a:xfrm>
          <a:prstGeom prst="roundRect">
            <a:avLst/>
          </a:prstGeom>
          <a:solidFill>
            <a:srgbClr val="0E161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Caddy /
Tunnel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03120"/>
            <a:ext cx="1828800" cy="1371600"/>
          </a:xfrm>
          <a:prstGeom prst="roundRect">
            <a:avLst/>
          </a:prstGeom>
          <a:solidFill>
            <a:srgbClr val="0E161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Gateway WAF
:8080
Alur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1828800" cy="1371600"/>
          </a:xfrm>
          <a:prstGeom prst="roundRect">
            <a:avLst/>
          </a:prstGeom>
          <a:solidFill>
            <a:srgbClr val="0E161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Origin
Portofolio /
site klien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206240"/>
            <a:ext cx="1828800" cy="1371600"/>
          </a:xfrm>
          <a:prstGeom prst="roundRect">
            <a:avLst/>
          </a:prstGeom>
          <a:solidFill>
            <a:srgbClr val="0E161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Control plane
:8081
(internal)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1828800" cy="1371600"/>
          </a:xfrm>
          <a:prstGeom prst="roundRect">
            <a:avLst/>
          </a:prstGeom>
          <a:solidFill>
            <a:srgbClr val="0E161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Operator GaaS
:3001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108960"/>
            <a:ext cx="1828800" cy="1371600"/>
          </a:xfrm>
          <a:prstGeom prst="roundRect">
            <a:avLst/>
          </a:prstGeom>
          <a:solidFill>
            <a:srgbClr val="0E161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NEX-RED
Job Cowork
:3004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Data plane publik ≠ control plane. SOC/DB/NEX-RED tidak di-tunnel ke juri.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08 · KOMPETITOR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Analisis singkat (jujur)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121408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8308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Dimensi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91640"/>
            <a:ext cx="2029967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78308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Scanner/PDF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2029967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783080"/>
            <a:ext cx="1920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WAF/CDN saja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59" y="1691640"/>
            <a:ext cx="2212848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SOC enterprise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91640"/>
            <a:ext cx="2304288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1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Nexus GaaS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286000"/>
            <a:ext cx="212140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450592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Bukti tepi vs origin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286000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450592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Tidak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286000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2450592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Sebagian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59" y="2286000"/>
            <a:ext cx="221284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Ya (mahal)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2286000"/>
            <a:ext cx="230428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1" y="24505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Defense delta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99232"/>
            <a:ext cx="212140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163824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Uji replay jujur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2999232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3472" y="3163824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Tidak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999232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163824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Jarang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59" y="2999232"/>
            <a:ext cx="221284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316382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Proses berat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59" y="2999232"/>
            <a:ext cx="230428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1" y="31638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replay_missed → GAP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712464"/>
            <a:ext cx="212140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877056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Harga UMKM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3712464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33472" y="3877056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Sekali mahal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3712464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3877056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Menengah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59" y="3712464"/>
            <a:ext cx="221284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387705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Terlalu mahal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559" y="3712464"/>
            <a:ext cx="230428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1" y="38770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Entry 15–35rb*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425696"/>
            <a:ext cx="212140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59028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Job + artefak risiko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4425696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33472" y="459028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PDF statis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4425696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36592" y="459028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Log saja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59" y="4425696"/>
            <a:ext cx="221284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9712" y="4590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Tiket SIEM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59" y="4425696"/>
            <a:ext cx="230428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25711" y="45902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Job Cowork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5138928"/>
            <a:ext cx="212140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530352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On-prem B2G jujur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60320" y="5138928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33472" y="530352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Kadang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63440" y="5138928"/>
            <a:ext cx="2029967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36592" y="530352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Ya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66559" y="5138928"/>
            <a:ext cx="221284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39712" y="5303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Ya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52559" y="5138928"/>
            <a:ext cx="2304288" cy="6400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25711" y="5303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Edge + Loop wajib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*Channel Starter lab v0.1 — bukan klaim billing produksi selesai.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09 · USP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Unique Selling Proposition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Wasit tertutup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Satu Job mengikat ukur → patch → replay → status jujur.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91640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Anti hijau palsu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replay_missed tidak boleh CLOSED_OK.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91640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Dua lapisan harga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Entry UMKM terpisah dari Loop GaaS / on-prem.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Otonomi terbatas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L0/L1 — manusia pemilik risiko tetap mengesahkan.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977639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2519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Moat teknis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Jalur di depan origin + jejak risiko — bukan UI SOC.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977639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2519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B2G jujur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846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Lisensi Edge + Loop; source &amp; SOC tidak diserahkan.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10 · 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Business Model Canvas (ringkas)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00200"/>
            <a:ext cx="2194560" cy="2194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733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Key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201167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Tunnel/CDN· Hosting opsional· Integrator web· WA commerce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600200"/>
            <a:ext cx="2194560" cy="2194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6733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Key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11680"/>
            <a:ext cx="201167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Job Cowork· Edge ops· Artefak· Portal jual· Upsell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600200"/>
            <a:ext cx="2194560" cy="1051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16733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Value Prop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2011680"/>
            <a:ext cx="201167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Wasit HTTP + entry site murah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743200"/>
            <a:ext cx="2194560" cy="1051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28163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Key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3154680"/>
            <a:ext cx="201167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Gateway· NEX-RED· IP proses· PC 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600200"/>
            <a:ext cx="2194560" cy="2194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9" y="16733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Customer Rel.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011680"/>
            <a:ext cx="201167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WA manual· Artefak· Retainer Loop· L0/L1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1600200"/>
            <a:ext cx="2286000" cy="21945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673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011680"/>
            <a:ext cx="21031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Portal segmen· WA· Demo lab· Pitch B2B/B2G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931920"/>
            <a:ext cx="4480560" cy="17373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0050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Cost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343400"/>
            <a:ext cx="42976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Waktu operator (Rp100rb/jam asumsi)· Listrik PC· R&amp;D· Belum VPS di 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3931920"/>
            <a:ext cx="3383280" cy="17373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79" y="4005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Customer Segments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4343400"/>
            <a:ext cx="3200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UMKM· Sekolah· Startup· Corporat· Pemerintah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931920"/>
            <a:ext cx="3383280" cy="17373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005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Revenue Streams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343400"/>
            <a:ext cx="3200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Starter bln· Job 200rb· Loop 300rb· Edge 18jt/thn· Loop on-prem 3,5jt/bln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11A · FINANCE · UMKM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Unit ekonomi UMKM (pilot PC+tunnel)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Belum punya web · Website Aman: Rp 20rb/bln · margin ~58%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Belum · GaaS entry: Rp 35rb/bln · margin ~47%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Sudah punya web · Pagar: Rp 15rb/bln · margin ~60%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Sudah · Pagar+status: Rp 28rb/bln · margin ~48%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COGS utama = waktu operator batch — bukan VPS.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Jangan jual Loop institusi di harga warung.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11B · FINANCE · SEKOLAH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Struktur harga selaras UMKM (pilot)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Website / GaaS entry / Pagar / Pagar+alert — angka sama band UMKM.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Nilai: anti-deface &amp; ketersediaan info publik sekolah.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Support harus template/batch agar margin bertahan.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Upsell ke Job Wasit jika ada event PPDB / portal kritis.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11C · FINANCE ·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Landing + tepi + wasit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Landing+pagar Rp 45rb/bln · margin ~64%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Landing+Tepi / Tepi Rp 75rb/bln · margin ~63–71%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Job Wasit Rp 200rb sekali · margin ~63%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Loop GaaS Rp 300rb/bln · margin ~68%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Cocok sebelum fundraising / launch fitur sensitif.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11D · FINANCE · CORPORAT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Hosted vs on-prem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Hosted: Job Rp 200rb · Loop Rp 300rb/bln (1 host pilot).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On-prem (besar/kritis): model sama Pemerintah — Edge + Loop.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Custom multi-host / SLA tertulis = quote WA.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Kontrak pisah: build site vs keamanan wasit.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11E · FINANCE · PEMERINTAH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On-prem Edge + Loop wajib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Lisensi Edge On-Prem: Rp 18jt / tahun (1 zona/DC ilustrasi).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Loop On-Prem wajib: Rp 3,5jt / bulan.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Tahun 1 tipikal 1 DC: jual ~Rp 60jt · COGS ~Rp 15jt · laba ~Rp 45jt · margin ~75%.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Source &amp; control plane SOC TIDAK termasuk.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Pitching ≠ sudah live pengadaan SIPLah/E-Katalog.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12 ·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Return untuk pelanggan &amp; untuk Nexus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ROI pelanggan (ilustrasi)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1 insiden deface/abuse sering &gt; biaya Loop sebulan.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Artefak mempercepat keputusan L0/L1 (kurangi meeting kosong).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UMKM: site+pagar lebih murah dari jasa “bikin web + amankan” terpisah.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Corporat/B2G: bukti residual untuk audit internal.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486400" cy="41148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B301"/>
                </a:solidFill>
                <a:latin typeface="Calibri"/>
              </a:rPr>
              <a:t>ROI Nexus (pilot)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Infra cash ≈ 0 (PC + tunnel) → margin % sehat.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UMKM = volume; B2G = laba absolut.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1 klien B2G tahun-1 ≈ puluhan juta laba kotor ilustrasi.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Upsell alami: Starter → Tepi → Job → Loop → On-prem.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13 · DAMPAK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Jika Nexus dipakai luas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Teknis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Lebih banyak kanal punya bukti pengendalian berulang, bukan PDF sekali.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91640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Ekonomi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UMKM dapat pagar terjangkau; institusi membayar wasit sesuai unit ekonomi.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91640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Tata kelola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4688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Jejak approve L0/L1 + residual tertulis untuk pemilik risiko.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Industri lokal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7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Alternatif jujur vs “SOC 24/7” yang tidak realistis di harga warung.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977639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206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Negara / B2G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5487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Model lisensi runtime + Loop — IP tetap di vendor, operasi di DC klien.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977639"/>
            <a:ext cx="3474720" cy="201168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206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Batasan jujur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75487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Bukan pengganti GRC bank penuh, pentest exploit, atau SLA data center.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14 · ROADMAP &amp; 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Pengembangan lanjut + balik modal (ilustrasi)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Q sekarang: demo Job Cowork + portal segmen + PC/tunnel pilot.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+3–6 bln: packaging Edge berlisensi; 3–5 klien Loop hosted; 1 pilot on-prem staging.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+6–12 bln: billing lebih rapi; multi-host Corporat; B2G kontrak pertama (jika ada).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Biaya R&amp;D+ops founder (ilustrasi): Rp 8–15jt/bulan blended (waktu + alat) — sesuaikan aktual Anda.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Target balik modal kas: 1 klien B2G tahun-1 atau ~40–80 Loop UMKM/startup sehat.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Skenario konservatif tanpa B2G: break-even ~6–12 bulan jika closing Loop stabil.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Angka di slide = model internal PRICING_UNIT_ECONOMICS — bukan prospektus resmi.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91640"/>
            <a:ext cx="4297680" cy="402336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965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B301"/>
                </a:solidFill>
                <a:latin typeface="Calibri"/>
              </a:rPr>
              <a:t>Ringkas payback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6888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Modal kerja kecil
(infra ≈ 0 di pilot)
Payback cepat jika
ada 1× B2G
atau funnel Loop
startup/corporat
UMKM = bahan bakar
volume &amp;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15A · RISIKO · UMKM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Mitigasi &amp; 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Support melebihi batch → margin habis. Mitigasi: template alert, naikkan harga, batasi volume.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Ekspektasi “SOC 24/7” di Rp 20rb. Mitigasi: copy jujur di portal + onboarding WA.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Churn tinggi. Mitigasi: upsell pagar bermakna; bundling site yang susah pindah.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Abuse trial. Mitigasi: WA manual, bukan self-serve kartu kredit dulu.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15B · RISIKO · SEKOLAH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Mitigasi &amp; 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Anggaran musiman / tahun ajaran. Mitigasi: paket tahunan &amp; jadwal Job sebelum PPDB.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PIC non-teknis. Mitigasi: artefak bahasa sederhana + WA.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Hosting pihak ke-3 berubah. Mitigasi: dokumentasikan PROTECTED_HOST &amp; DNS.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Klaim berlebihan ke orang tua/komite. Mitigasi: batasi klaim di kontrak.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15C · RISIKO ·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Mitigasi &amp; 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Pivot produk → host berubah. Mitigasi: Loop per host; quote ulang scope.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Minta pentest exploit. Mitigasi: tegas wasit HTTP jinak ≠ Shannon.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Bayar telat. Mitigasi: Job one-shot dulu; Loop setelah artefak pertama.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Overload fitur. Mitigasi: ICP ketat — kanal web/API saja.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15D · RISIKO · CORPORAT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Mitigasi &amp; 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Minta SOC penuh ke tangan mereka. Mitigasi: portal status ringan ≠ control plane.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SLA data center di fase pilot PC. Mitigasi: kontrak jujur pilot; roadmap VPS/DC.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Multi-host tanpa harga. Mitigasi: harga per host + custom quote.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Vendor lock-in fear. Mitigasi: artefak portabel MD/JSON; on-prem path jelas.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15E · RISIKO · PEMERINTAH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Mitigasi &amp; 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Pengadaan lama / HPS. Mitigasi: pitching dulu; jangan klaim E-Katalog selesai.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Permintaan source code. Mitigasi: kebijakan tetap — lisensi runtime + escrow jika wajib.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Air-gap / DC khusus. Mitigasi: custom quote; Loop tetap wajib.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Gagal packaging lisensi. Mitigasi: milestone packaging sebelum janji go-live.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Dukungan untuk percepat packaging Edge berlisensi + 3–5 klien Loop berbayar.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Intro ke ICP: fintech/integrator &amp; pintu B2G staging (bukan klaim produksi selesai).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•  Diskusi putaran modal kerja sesuai angka aktual founder (slide roadmap = kerangka).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Nexus Cyber — wasit yang bisa ditutup jujur.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LAMPIRAN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Disclaimer pitching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Angka harga &amp; margin dari docs/PRICING_UNIT_ECONOMICS.md — ilustrasi pilot, bukan laporan audit.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Tidak mengklaim: eBPF/XDP nyata, SOC otonom 24/7, pentest exploit setara Shannon, billing Channel Starter produksi selesai.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Lab target: portofolio di belakang WAF — bukti mesin, bukan produk yang dijual sebagai “portofolio SaaS”.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SOC / Operator Console hanya internal Nexus — bukan deliverable pelanggan.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Sumber: docs/PRODUCT_MODEL.md, COWORK_B2B.md, COWORK_B2G.md, DISTRIBUTION_PILOT.md, AGENTS.md.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Nexus Cyber · Investor Pitch · Rahasia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